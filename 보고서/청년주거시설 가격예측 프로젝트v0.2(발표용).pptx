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8" r:id="rId5"/>
    <p:sldId id="269" r:id="rId6"/>
    <p:sldId id="261" r:id="rId7"/>
    <p:sldId id="277" r:id="rId8"/>
    <p:sldId id="263" r:id="rId9"/>
    <p:sldId id="274" r:id="rId10"/>
    <p:sldId id="275" r:id="rId11"/>
    <p:sldId id="266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6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5663" autoAdjust="0"/>
  </p:normalViewPr>
  <p:slideViewPr>
    <p:cSldViewPr>
      <p:cViewPr varScale="1">
        <p:scale>
          <a:sx n="40" d="100"/>
          <a:sy n="40" d="100"/>
        </p:scale>
        <p:origin x="90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BD168-CA3D-4927-91FD-EC60232AAD90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265809-3EA1-49B1-B3F2-8C30B02E05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54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안녕하세요 </a:t>
            </a:r>
            <a:endParaRPr lang="en-US" altLang="ko-KR" dirty="0" smtClean="0"/>
          </a:p>
          <a:p>
            <a:r>
              <a:rPr lang="en-US" altLang="ko-KR" dirty="0" smtClean="0"/>
              <a:t>1</a:t>
            </a:r>
            <a:r>
              <a:rPr lang="ko-KR" altLang="en-US" dirty="0" smtClean="0"/>
              <a:t>팀 프로젝트 발표를 맡은 </a:t>
            </a:r>
            <a:r>
              <a:rPr lang="ko-KR" altLang="en-US" dirty="0" err="1" smtClean="0"/>
              <a:t>최예지</a:t>
            </a:r>
            <a:r>
              <a:rPr lang="ko-KR" altLang="en-US" dirty="0" smtClean="0"/>
              <a:t>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저희 팀의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청년 주거 시설 가격 예측 및 정부지원제도 추천 서비스</a:t>
            </a:r>
            <a:r>
              <a:rPr lang="en-US" altLang="ko-KR" dirty="0" smtClean="0"/>
              <a:t>＇</a:t>
            </a:r>
            <a:r>
              <a:rPr lang="ko-KR" altLang="en-US" dirty="0" smtClean="0"/>
              <a:t>프로젝트 발표 시작하겠습니다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076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74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청년들은 어디서 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어떻게 집을 구해야 할까</a:t>
            </a:r>
            <a:r>
              <a:rPr lang="en-US" altLang="ko-KR" dirty="0" smtClean="0"/>
              <a:t>?;</a:t>
            </a:r>
            <a:r>
              <a:rPr lang="ko-KR" altLang="en-US" dirty="0" smtClean="0"/>
              <a:t>라는 질문에서</a:t>
            </a:r>
            <a:r>
              <a:rPr lang="ko-KR" altLang="en-US" baseline="0" dirty="0" smtClean="0"/>
              <a:t> 시작 되었습니다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요즘 청년들은 주거비 부담이 높고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전세 사기나 대출 한도 문제로 안정적인 거주지 찾기가 쉽지 않을 뿐더러</a:t>
            </a:r>
            <a:endParaRPr lang="en-US" altLang="ko-KR" baseline="0" dirty="0" smtClean="0"/>
          </a:p>
          <a:p>
            <a:r>
              <a:rPr lang="ko-KR" altLang="en-US" baseline="0" dirty="0" smtClean="0"/>
              <a:t>정부나 지자체에서 다양한 주거 지원 </a:t>
            </a:r>
            <a:r>
              <a:rPr lang="ko-KR" altLang="en-US" baseline="0" dirty="0" err="1" smtClean="0"/>
              <a:t>청책이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있는건</a:t>
            </a:r>
            <a:r>
              <a:rPr lang="ko-KR" altLang="en-US" baseline="0" dirty="0" smtClean="0"/>
              <a:t> 알지만 조건도 복잡하고 단어도 어렵고</a:t>
            </a:r>
            <a:r>
              <a:rPr lang="en-US" altLang="ko-KR" baseline="0" dirty="0" smtClean="0"/>
              <a:t>! ‘</a:t>
            </a:r>
            <a:r>
              <a:rPr lang="ko-KR" altLang="en-US" baseline="0" dirty="0" smtClean="0"/>
              <a:t>나에게 맞는 제도</a:t>
            </a:r>
            <a:r>
              <a:rPr lang="en-US" altLang="ko-KR" baseline="0" dirty="0" smtClean="0"/>
              <a:t>’</a:t>
            </a:r>
            <a:r>
              <a:rPr lang="ko-KR" altLang="en-US" baseline="0" dirty="0" smtClean="0"/>
              <a:t>를 </a:t>
            </a:r>
            <a:r>
              <a:rPr lang="ko-KR" altLang="en-US" baseline="0" dirty="0" err="1" smtClean="0"/>
              <a:t>찾는것이</a:t>
            </a:r>
            <a:r>
              <a:rPr lang="ko-KR" altLang="en-US" baseline="0" dirty="0" smtClean="0"/>
              <a:t> 어렵다는 점이 현실적인 문제라고 생각하고</a:t>
            </a: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480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집을 구하려고 하는 곳의 전월세 시세를 </a:t>
            </a:r>
            <a:r>
              <a:rPr lang="ko-KR" altLang="en-US" dirty="0" err="1" smtClean="0"/>
              <a:t>예측하는것에서</a:t>
            </a:r>
            <a:r>
              <a:rPr lang="ko-KR" altLang="en-US" dirty="0" smtClean="0"/>
              <a:t> 끝나지 않고 정부 지원 프로그램을 자동 추천하는</a:t>
            </a:r>
            <a:r>
              <a:rPr lang="ko-KR" altLang="en-US" baseline="0" dirty="0" smtClean="0"/>
              <a:t> 서비스까지 제공하는 프로그램을 개발하자는 취지로 시작했습니다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이후 보기 편하게 </a:t>
            </a:r>
            <a:r>
              <a:rPr lang="ko-KR" altLang="en-US" baseline="0" dirty="0" err="1" smtClean="0"/>
              <a:t>카카오맵에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집위</a:t>
            </a:r>
            <a:r>
              <a:rPr lang="ko-KR" altLang="en-US" baseline="0" dirty="0" smtClean="0"/>
              <a:t> 위치와 주거 정책까지 같이 볼 수 있게 구현하려고 합니다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614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앞서 말씀 </a:t>
            </a:r>
            <a:r>
              <a:rPr lang="ko-KR" altLang="en-US" dirty="0" err="1" smtClean="0"/>
              <a:t>드린것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처럼</a:t>
            </a:r>
            <a:r>
              <a:rPr lang="ko-KR" altLang="en-US" dirty="0" smtClean="0"/>
              <a:t> 단순히 시세를</a:t>
            </a:r>
            <a:r>
              <a:rPr lang="ko-KR" altLang="en-US" baseline="0" dirty="0" smtClean="0"/>
              <a:t> </a:t>
            </a:r>
            <a:r>
              <a:rPr lang="ko-KR" altLang="en-US" dirty="0" err="1" smtClean="0"/>
              <a:t>보여주는것이</a:t>
            </a:r>
            <a:r>
              <a:rPr lang="ko-KR" altLang="en-US" dirty="0" smtClean="0"/>
              <a:t> 아니라 청년이 언제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어디서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어떤 조건으로 이사해야 가장 합리적인지 결정 할 수 있게 데이터를 기반으로 </a:t>
            </a:r>
            <a:r>
              <a:rPr lang="ko-KR" altLang="en-US" baseline="0" dirty="0" err="1" smtClean="0"/>
              <a:t>알려주는것입니다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이 서비스를 제공하기 위해</a:t>
            </a:r>
            <a:endParaRPr lang="en-US" altLang="ko-KR" baseline="0" dirty="0" smtClean="0"/>
          </a:p>
          <a:p>
            <a:r>
              <a:rPr lang="ko-KR" altLang="en-US" baseline="0" dirty="0" smtClean="0"/>
              <a:t>첫째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전월세 가격 예측 모델 개발</a:t>
            </a:r>
            <a:endParaRPr lang="en-US" altLang="ko-KR" baseline="0" dirty="0" smtClean="0"/>
          </a:p>
          <a:p>
            <a:r>
              <a:rPr lang="ko-KR" altLang="en-US" baseline="0" dirty="0" smtClean="0"/>
              <a:t>둘째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정부 지원 제도 추천 알고리즘 개발</a:t>
            </a:r>
            <a:endParaRPr lang="en-US" altLang="ko-KR" baseline="0" dirty="0" smtClean="0"/>
          </a:p>
          <a:p>
            <a:r>
              <a:rPr lang="ko-KR" altLang="en-US" baseline="0" dirty="0" smtClean="0"/>
              <a:t>셋째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카카오 맵 기반 시각화 기능 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입니다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022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첫 </a:t>
            </a:r>
            <a:r>
              <a:rPr lang="ko-KR" altLang="en-US" dirty="0" err="1" smtClean="0"/>
              <a:t>번쨰로</a:t>
            </a:r>
            <a:r>
              <a:rPr lang="ko-KR" altLang="en-US" dirty="0" smtClean="0"/>
              <a:t> 개발하려는 전월세 가격 예측 모델 개발 입니다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최근 </a:t>
            </a:r>
            <a:r>
              <a:rPr lang="en-US" altLang="ko-KR" dirty="0" smtClean="0"/>
              <a:t>5</a:t>
            </a:r>
            <a:r>
              <a:rPr lang="ko-KR" altLang="en-US" dirty="0" smtClean="0"/>
              <a:t>년간 부동산 </a:t>
            </a:r>
            <a:r>
              <a:rPr lang="ko-KR" altLang="en-US" dirty="0" err="1" smtClean="0"/>
              <a:t>실거래</a:t>
            </a:r>
            <a:r>
              <a:rPr lang="ko-KR" altLang="en-US" dirty="0" smtClean="0"/>
              <a:t> 데이터를 수집해 </a:t>
            </a:r>
            <a:r>
              <a:rPr lang="ko-KR" altLang="en-US" dirty="0" err="1" smtClean="0"/>
              <a:t>회귀모델로</a:t>
            </a:r>
            <a:r>
              <a:rPr lang="ko-KR" altLang="en-US" dirty="0" smtClean="0"/>
              <a:t> 가격의 기본 구조를 분석하려고 하고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그 다음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XGBoost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모델을 이용해 위치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인프라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상권 같은 </a:t>
            </a:r>
            <a:r>
              <a:rPr lang="ko-KR" altLang="en-US" dirty="0" err="1" smtClean="0"/>
              <a:t>비시계열</a:t>
            </a:r>
            <a:r>
              <a:rPr lang="ko-KR" altLang="en-US" dirty="0" smtClean="0"/>
              <a:t> 요인들을 학습시키고 가격 형성에 영향을 주는 주요 변수를 도출 하려고 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마지막으로 부동산 </a:t>
            </a:r>
            <a:r>
              <a:rPr lang="ko-KR" altLang="en-US" dirty="0" err="1" smtClean="0"/>
              <a:t>실거래</a:t>
            </a:r>
            <a:r>
              <a:rPr lang="ko-KR" altLang="en-US" dirty="0" smtClean="0"/>
              <a:t> 데이터를 분기별 </a:t>
            </a:r>
            <a:r>
              <a:rPr lang="ko-KR" altLang="en-US" dirty="0" err="1" smtClean="0"/>
              <a:t>시계열</a:t>
            </a:r>
            <a:r>
              <a:rPr lang="ko-KR" altLang="en-US" dirty="0" smtClean="0"/>
              <a:t> 구조로 변환하여 </a:t>
            </a:r>
            <a:r>
              <a:rPr lang="en-US" altLang="ko-KR" dirty="0" smtClean="0"/>
              <a:t>LSTM </a:t>
            </a:r>
            <a:r>
              <a:rPr lang="ko-KR" altLang="en-US" dirty="0" smtClean="0"/>
              <a:t>모델을 적용해 시간의 흐름에 따른 가격 변동 패턴을 예측하려고 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이렇게 공간적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요인과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시작적</a:t>
            </a:r>
            <a:r>
              <a:rPr lang="ko-KR" altLang="en-US" baseline="0" dirty="0" smtClean="0"/>
              <a:t> 요인을 모두 반영하여 더 정교한 전월세 가격 예측 모델을 완성하고자 합니다</a:t>
            </a:r>
            <a:r>
              <a:rPr lang="en-US" altLang="ko-KR" baseline="0" dirty="0" smtClean="0"/>
              <a:t>. 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sz="1800" b="1" dirty="0" smtClean="0"/>
              <a:t>선형 </a:t>
            </a:r>
            <a:r>
              <a:rPr lang="ko-KR" altLang="en-US" sz="1800" b="1" dirty="0"/>
              <a:t>회귀 </a:t>
            </a:r>
            <a:r>
              <a:rPr lang="en-US" altLang="ko-KR" dirty="0"/>
              <a:t>: </a:t>
            </a:r>
            <a:r>
              <a:rPr lang="ko-KR" altLang="en-US" dirty="0"/>
              <a:t>실 거래 데이터는 개별 거래 중심이라 시계열 연속성이 낮아</a:t>
            </a:r>
            <a:r>
              <a:rPr lang="en-US" altLang="ko-KR" dirty="0"/>
              <a:t>, LSTM</a:t>
            </a:r>
            <a:r>
              <a:rPr lang="ko-KR" altLang="en-US" dirty="0"/>
              <a:t>보다는 변수 간 관계를 분석할 수 있는 </a:t>
            </a:r>
            <a:r>
              <a:rPr lang="ko-KR" altLang="en-US" b="1" dirty="0"/>
              <a:t>선형 회귀 모델</a:t>
            </a:r>
            <a:r>
              <a:rPr lang="ko-KR" altLang="en-US" dirty="0"/>
              <a:t>이 적합하다고 판단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이후 </a:t>
            </a:r>
            <a:r>
              <a:rPr lang="ko-KR" altLang="en-US" dirty="0" err="1" smtClean="0"/>
              <a:t>시계열</a:t>
            </a:r>
            <a:r>
              <a:rPr lang="ko-KR" altLang="en-US" dirty="0" smtClean="0"/>
              <a:t> 구조가 있는 </a:t>
            </a:r>
            <a:r>
              <a:rPr lang="ko-KR" altLang="en-US" b="1" dirty="0" smtClean="0"/>
              <a:t>분기별 평균 가격 데이터</a:t>
            </a:r>
            <a:r>
              <a:rPr lang="ko-KR" altLang="en-US" dirty="0" smtClean="0"/>
              <a:t>에는 </a:t>
            </a:r>
            <a:r>
              <a:rPr lang="en-US" altLang="ko-KR" dirty="0" smtClean="0"/>
              <a:t>LSTM</a:t>
            </a:r>
            <a:r>
              <a:rPr lang="ko-KR" altLang="en-US" dirty="0"/>
              <a:t>을 적용해 가격 변동 추세를 예측하고자 한다</a:t>
            </a:r>
            <a:r>
              <a:rPr lang="en-US" altLang="ko-KR" dirty="0"/>
              <a:t>.</a:t>
            </a:r>
          </a:p>
          <a:p>
            <a:r>
              <a:rPr lang="en-US" altLang="ko-KR" b="1" dirty="0" err="1"/>
              <a:t>XGBoost</a:t>
            </a:r>
            <a:r>
              <a:rPr lang="ko-KR" altLang="en-US" dirty="0"/>
              <a:t>는 변수 간 </a:t>
            </a:r>
            <a:r>
              <a:rPr lang="ko-KR" altLang="en-US" dirty="0" smtClean="0"/>
              <a:t>관계가 </a:t>
            </a:r>
            <a:r>
              <a:rPr lang="ko-KR" altLang="en-US" dirty="0"/>
              <a:t>비선형적</a:t>
            </a:r>
            <a:r>
              <a:rPr lang="en-US" altLang="ko-KR" dirty="0"/>
              <a:t>(</a:t>
            </a:r>
            <a:r>
              <a:rPr lang="ko-KR" altLang="en-US" dirty="0"/>
              <a:t>직선이 아닌 관계</a:t>
            </a:r>
            <a:r>
              <a:rPr lang="en-US" altLang="ko-KR" dirty="0"/>
              <a:t>)</a:t>
            </a:r>
            <a:r>
              <a:rPr lang="ko-KR" altLang="en-US" dirty="0"/>
              <a:t>일 때 높은 예측 성능과 </a:t>
            </a:r>
            <a:r>
              <a:rPr lang="ko-KR" altLang="en-US" dirty="0" err="1"/>
              <a:t>해석력을</a:t>
            </a:r>
            <a:r>
              <a:rPr lang="ko-KR" altLang="en-US" dirty="0"/>
              <a:t> 제공하기 때문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424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8D45A-FDD9-2827-4A39-8AC4A930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135B7D-4B5D-0AEF-89F4-539BEF64C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04A329-A33D-0E11-FE92-0545A1FF7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두번째는 정부 </a:t>
            </a:r>
            <a:r>
              <a:rPr lang="ko-KR" altLang="en-US" dirty="0" err="1" smtClean="0">
                <a:latin typeface="Nanum Square" panose="020B0600000101010101" charset="-127"/>
                <a:ea typeface="Nanum Square" panose="020B0600000101010101" charset="-127"/>
              </a:rPr>
              <a:t>지우너</a:t>
            </a:r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 제도 추천입니다</a:t>
            </a:r>
            <a:r>
              <a:rPr lang="en-US" altLang="ko-KR" dirty="0" smtClean="0">
                <a:latin typeface="Nanum Square" panose="020B0600000101010101" charset="-127"/>
                <a:ea typeface="Nanum Square" panose="020B0600000101010101" charset="-127"/>
              </a:rPr>
              <a:t>. </a:t>
            </a:r>
          </a:p>
          <a:p>
            <a:endParaRPr lang="en-US" altLang="ko-KR" dirty="0" smtClean="0">
              <a:latin typeface="Nanum Square" panose="020B0600000101010101" charset="-127"/>
              <a:ea typeface="Nanum Square" panose="020B0600000101010101" charset="-127"/>
            </a:endParaRPr>
          </a:p>
          <a:p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정책 데이터베이스를 구축한 뒤</a:t>
            </a:r>
            <a:r>
              <a:rPr lang="en-US" altLang="ko-KR" dirty="0" smtClean="0">
                <a:latin typeface="Nanum Square" panose="020B0600000101010101" charset="-127"/>
                <a:ea typeface="Nanum Square" panose="020B0600000101010101" charset="-127"/>
              </a:rPr>
              <a:t>, </a:t>
            </a:r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규칙기반 </a:t>
            </a:r>
            <a:r>
              <a:rPr lang="ko-KR" altLang="en-US" dirty="0" err="1" smtClean="0">
                <a:latin typeface="Nanum Square" panose="020B0600000101010101" charset="-127"/>
                <a:ea typeface="Nanum Square" panose="020B0600000101010101" charset="-127"/>
              </a:rPr>
              <a:t>필터링과</a:t>
            </a:r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 유사도 기반 추천을 결합한 알고리즘을 </a:t>
            </a:r>
            <a:r>
              <a:rPr lang="ko-KR" altLang="en-US" dirty="0" err="1" smtClean="0">
                <a:latin typeface="Nanum Square" panose="020B0600000101010101" charset="-127"/>
                <a:ea typeface="Nanum Square" panose="020B0600000101010101" charset="-127"/>
              </a:rPr>
              <a:t>개발하고자</a:t>
            </a:r>
            <a:r>
              <a:rPr lang="ko-KR" altLang="en-US" baseline="0" dirty="0" err="1" smtClean="0">
                <a:latin typeface="Nanum Square" panose="020B0600000101010101" charset="-127"/>
                <a:ea typeface="Nanum Square" panose="020B0600000101010101" charset="-127"/>
              </a:rPr>
              <a:t>합니다</a:t>
            </a:r>
            <a:endParaRPr lang="en-US" altLang="ko-KR" baseline="0" dirty="0" smtClean="0">
              <a:latin typeface="Nanum Square" panose="020B0600000101010101" charset="-127"/>
              <a:ea typeface="Nanum Square" panose="020B0600000101010101" charset="-127"/>
            </a:endParaRPr>
          </a:p>
          <a:p>
            <a:endParaRPr lang="en-US" altLang="ko-KR" baseline="0" dirty="0" smtClean="0">
              <a:latin typeface="Nanum Square" panose="020B0600000101010101" charset="-127"/>
              <a:ea typeface="Nanum Square" panose="020B0600000101010101" charset="-127"/>
            </a:endParaRPr>
          </a:p>
          <a:p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규칙기반 </a:t>
            </a:r>
            <a:r>
              <a:rPr lang="ko-KR" altLang="en-US" dirty="0" err="1" smtClean="0">
                <a:latin typeface="Nanum Square" panose="020B0600000101010101" charset="-127"/>
                <a:ea typeface="Nanum Square" panose="020B0600000101010101" charset="-127"/>
              </a:rPr>
              <a:t>필터링에는</a:t>
            </a:r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 </a:t>
            </a:r>
            <a:r>
              <a:rPr lang="en-US" altLang="ko-KR" dirty="0" smtClean="0">
                <a:latin typeface="Nanum Square" panose="020B0600000101010101" charset="-127"/>
                <a:ea typeface="Nanum Square" panose="020B0600000101010101" charset="-127"/>
              </a:rPr>
              <a:t>~</a:t>
            </a:r>
          </a:p>
          <a:p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유사도 기반 추천 단계에서는 </a:t>
            </a:r>
            <a:r>
              <a:rPr lang="en-US" altLang="ko-KR" dirty="0" smtClean="0">
                <a:latin typeface="Nanum Square" panose="020B0600000101010101" charset="-127"/>
                <a:ea typeface="Nanum Square" panose="020B0600000101010101" charset="-127"/>
              </a:rPr>
              <a:t>~</a:t>
            </a:r>
          </a:p>
          <a:p>
            <a:endParaRPr lang="en-US" altLang="ko-KR" dirty="0" smtClean="0">
              <a:latin typeface="Nanum Square" panose="020B0600000101010101" charset="-127"/>
              <a:ea typeface="Nanum Square" panose="020B0600000101010101" charset="-127"/>
            </a:endParaRPr>
          </a:p>
          <a:p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마지막으로 각 항목에 가중치를 부여해서 정책과 사영자의 조건이 얼마나 잘 맞는지를 수치화 하고 적합도가 높은 정책을 우선 추천 합니다</a:t>
            </a:r>
            <a:r>
              <a:rPr lang="en-US" altLang="ko-KR" dirty="0" smtClean="0">
                <a:latin typeface="Nanum Square" panose="020B0600000101010101" charset="-127"/>
                <a:ea typeface="Nanum Square" panose="020B0600000101010101" charset="-127"/>
              </a:rPr>
              <a:t>. </a:t>
            </a:r>
          </a:p>
          <a:p>
            <a:endParaRPr lang="en-US" altLang="ko-KR" dirty="0" smtClean="0">
              <a:latin typeface="Nanum Square" panose="020B0600000101010101" charset="-127"/>
              <a:ea typeface="Nanum Square" panose="020B0600000101010101" charset="-127"/>
            </a:endParaRPr>
          </a:p>
          <a:p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이렇게 해서 저희 프로젝트는 단순히 </a:t>
            </a:r>
            <a:r>
              <a:rPr lang="en-US" altLang="ko-KR" dirty="0" smtClean="0">
                <a:latin typeface="Nanum Square" panose="020B0600000101010101" charset="-127"/>
                <a:ea typeface="Nanum Square" panose="020B0600000101010101" charset="-127"/>
              </a:rPr>
              <a:t>‘</a:t>
            </a:r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검색 결과</a:t>
            </a:r>
            <a:r>
              <a:rPr lang="en-US" altLang="ko-KR" dirty="0" smtClean="0">
                <a:latin typeface="Nanum Square" panose="020B0600000101010101" charset="-127"/>
                <a:ea typeface="Nanum Square" panose="020B0600000101010101" charset="-127"/>
              </a:rPr>
              <a:t>＇</a:t>
            </a:r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를 보여주는 것이 아니라 </a:t>
            </a:r>
            <a:r>
              <a:rPr lang="en-US" altLang="ko-KR" dirty="0" smtClean="0">
                <a:latin typeface="Nanum Square" panose="020B0600000101010101" charset="-127"/>
                <a:ea typeface="Nanum Square" panose="020B0600000101010101" charset="-127"/>
              </a:rPr>
              <a:t>‘ </a:t>
            </a:r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나에게 꼭 맞는 정책</a:t>
            </a:r>
            <a:r>
              <a:rPr lang="en-US" altLang="ko-KR" dirty="0" smtClean="0">
                <a:latin typeface="Nanum Square" panose="020B0600000101010101" charset="-127"/>
                <a:ea typeface="Nanum Square" panose="020B0600000101010101" charset="-127"/>
              </a:rPr>
              <a:t>＇</a:t>
            </a:r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을 찾아주는 개인 맞춤형 추천 서비스를 제공하는 시스템입니다</a:t>
            </a:r>
            <a:r>
              <a:rPr lang="en-US" altLang="ko-KR" dirty="0" smtClean="0">
                <a:latin typeface="Nanum Square" panose="020B0600000101010101" charset="-127"/>
                <a:ea typeface="Nanum Square" panose="020B0600000101010101" charset="-127"/>
              </a:rPr>
              <a:t>.</a:t>
            </a:r>
          </a:p>
          <a:p>
            <a:endParaRPr lang="en-US" altLang="ko-KR" dirty="0" smtClean="0">
              <a:latin typeface="Nanum Square" panose="020B0600000101010101" charset="-127"/>
              <a:ea typeface="Nanum Square" panose="020B0600000101010101" charset="-127"/>
            </a:endParaRPr>
          </a:p>
          <a:p>
            <a:r>
              <a:rPr lang="ko-KR" altLang="en-US" dirty="0" err="1" smtClean="0">
                <a:latin typeface="Nanum Square" panose="020B0600000101010101" charset="-127"/>
                <a:ea typeface="Nanum Square" panose="020B0600000101010101" charset="-127"/>
              </a:rPr>
              <a:t>유사도는</a:t>
            </a:r>
            <a:r>
              <a:rPr lang="ko-KR" altLang="en-US" dirty="0" smtClean="0">
                <a:latin typeface="Nanum Square" panose="020B0600000101010101" charset="-127"/>
                <a:ea typeface="Nanum Square" panose="020B0600000101010101" charset="-127"/>
              </a:rPr>
              <a:t> </a:t>
            </a:r>
            <a:r>
              <a:rPr lang="en-US" altLang="ko-KR" b="1" dirty="0">
                <a:latin typeface="Nanum Square" panose="020B0600000101010101" charset="-127"/>
                <a:ea typeface="Nanum Square" panose="020B0600000101010101" charset="-127"/>
              </a:rPr>
              <a:t>Cosine Similarity / KNN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을 활용해 사용자의 조건 벡터와 정책 속성 벡터 간 </a:t>
            </a:r>
            <a:r>
              <a:rPr lang="ko-KR" altLang="en-US" b="1" dirty="0">
                <a:latin typeface="Nanum Square" panose="020B0600000101010101" charset="-127"/>
                <a:ea typeface="Nanum Square" panose="020B0600000101010101" charset="-127"/>
              </a:rPr>
              <a:t>유사도 기반 추천</a:t>
            </a:r>
            <a:endParaRPr lang="en-US" altLang="ko-KR" b="1" dirty="0">
              <a:latin typeface="Nanum Square" panose="020B0600000101010101" charset="-127"/>
              <a:ea typeface="Nanum Square" panose="020B0600000101010101" charset="-127"/>
            </a:endParaRPr>
          </a:p>
          <a:p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정책이 중복될 경우 동일 목적</a:t>
            </a:r>
            <a:r>
              <a:rPr lang="en-US" altLang="ko-KR" dirty="0">
                <a:latin typeface="Nanum Square" panose="020B0600000101010101" charset="-127"/>
                <a:ea typeface="Nanum Square" panose="020B0600000101010101" charset="-127"/>
              </a:rPr>
              <a:t>(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예</a:t>
            </a:r>
            <a:r>
              <a:rPr lang="en-US" altLang="ko-KR" dirty="0">
                <a:latin typeface="Nanum Square" panose="020B0600000101010101" charset="-127"/>
                <a:ea typeface="Nanum Square" panose="020B0600000101010101" charset="-127"/>
              </a:rPr>
              <a:t>: 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청년 전세지원</a:t>
            </a:r>
            <a:r>
              <a:rPr lang="en-US" altLang="ko-KR" dirty="0">
                <a:latin typeface="Nanum Square" panose="020B0600000101010101" charset="-127"/>
                <a:ea typeface="Nanum Square" panose="020B0600000101010101" charset="-127"/>
              </a:rPr>
              <a:t>) 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제도는 </a:t>
            </a:r>
            <a:r>
              <a:rPr lang="ko-KR" altLang="en-US" b="1" dirty="0">
                <a:latin typeface="Nanum Square" panose="020B0600000101010101" charset="-127"/>
                <a:ea typeface="Nanum Square" panose="020B0600000101010101" charset="-127"/>
              </a:rPr>
              <a:t>중복 제거 후 대표 정책만 추천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 또는 </a:t>
            </a:r>
            <a:r>
              <a:rPr lang="ko-KR" altLang="en-US" b="1" dirty="0">
                <a:latin typeface="Nanum Square" panose="020B0600000101010101" charset="-127"/>
                <a:ea typeface="Nanum Square" panose="020B0600000101010101" charset="-127"/>
              </a:rPr>
              <a:t>가중치로 점수 조정</a:t>
            </a:r>
            <a:endParaRPr lang="en-US" altLang="ko-KR" b="1" dirty="0">
              <a:latin typeface="Nanum Square" panose="020B0600000101010101" charset="-127"/>
              <a:ea typeface="Nanum Square" panose="020B0600000101010101" charset="-127"/>
            </a:endParaRPr>
          </a:p>
          <a:p>
            <a:endParaRPr lang="en-US" altLang="ko-KR" b="1" dirty="0">
              <a:latin typeface="Nanum Square" panose="020B0600000101010101" charset="-127"/>
              <a:ea typeface="Nanum Square" panose="020B0600000101010101" charset="-127"/>
            </a:endParaRPr>
          </a:p>
          <a:p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정부 정책 데이터 복지로</a:t>
            </a:r>
            <a:r>
              <a:rPr lang="en-US" altLang="ko-KR" dirty="0">
                <a:latin typeface="Nanum Square" panose="020B0600000101010101" charset="-127"/>
                <a:ea typeface="Nanum Square" panose="020B0600000101010101" charset="-127"/>
              </a:rPr>
              <a:t>, 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지자체 </a:t>
            </a:r>
            <a:r>
              <a:rPr lang="ko-KR" altLang="en-US" dirty="0" err="1">
                <a:latin typeface="Nanum Square" panose="020B0600000101010101" charset="-127"/>
                <a:ea typeface="Nanum Square" panose="020B0600000101010101" charset="-127"/>
              </a:rPr>
              <a:t>홈페이지등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 에서 수집</a:t>
            </a:r>
            <a:endParaRPr lang="en-US" altLang="ko-KR" dirty="0">
              <a:latin typeface="Nanum Square" panose="020B0600000101010101" charset="-127"/>
              <a:ea typeface="Nanum Square" panose="020B0600000101010101" charset="-127"/>
            </a:endParaRPr>
          </a:p>
          <a:p>
            <a:endParaRPr lang="en-US" altLang="ko-KR" dirty="0">
              <a:latin typeface="Nanum Square" panose="020B0600000101010101" charset="-127"/>
              <a:ea typeface="Nanum Square" panose="020B0600000101010101" charset="-127"/>
            </a:endParaRPr>
          </a:p>
          <a:p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정책 데이터는 비정형</a:t>
            </a:r>
            <a:r>
              <a:rPr lang="en-US" altLang="ko-KR" dirty="0">
                <a:latin typeface="Nanum Square" panose="020B0600000101010101" charset="-127"/>
                <a:ea typeface="Nanum Square" panose="020B0600000101010101" charset="-127"/>
              </a:rPr>
              <a:t>(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텍스트</a:t>
            </a:r>
            <a:r>
              <a:rPr lang="en-US" altLang="ko-KR" dirty="0">
                <a:latin typeface="Nanum Square" panose="020B0600000101010101" charset="-127"/>
                <a:ea typeface="Nanum Square" panose="020B0600000101010101" charset="-127"/>
              </a:rPr>
              <a:t>)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인데</a:t>
            </a:r>
            <a:r>
              <a:rPr lang="en-US" altLang="ko-KR" dirty="0">
                <a:latin typeface="Nanum Square" panose="020B0600000101010101" charset="-127"/>
                <a:ea typeface="Nanum Square" panose="020B0600000101010101" charset="-127"/>
              </a:rPr>
              <a:t>, 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어떻게 </a:t>
            </a:r>
            <a:r>
              <a:rPr lang="ko-KR" altLang="en-US" dirty="0" err="1">
                <a:latin typeface="Nanum Square" panose="020B0600000101010101" charset="-127"/>
                <a:ea typeface="Nanum Square" panose="020B0600000101010101" charset="-127"/>
              </a:rPr>
              <a:t>구조화했나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 지원대상</a:t>
            </a:r>
            <a:r>
              <a:rPr lang="en-US" altLang="ko-KR" dirty="0">
                <a:latin typeface="Nanum Square" panose="020B0600000101010101" charset="-127"/>
                <a:ea typeface="Nanum Square" panose="020B0600000101010101" charset="-127"/>
              </a:rPr>
              <a:t>·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소득기준</a:t>
            </a:r>
            <a:r>
              <a:rPr lang="en-US" altLang="ko-KR" dirty="0">
                <a:latin typeface="Nanum Square" panose="020B0600000101010101" charset="-127"/>
                <a:ea typeface="Nanum Square" panose="020B0600000101010101" charset="-127"/>
              </a:rPr>
              <a:t>·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연령조건 등 </a:t>
            </a:r>
            <a:r>
              <a:rPr lang="ko-KR" altLang="en-US" b="1" dirty="0">
                <a:latin typeface="Nanum Square" panose="020B0600000101010101" charset="-127"/>
                <a:ea typeface="Nanum Square" panose="020B0600000101010101" charset="-127"/>
              </a:rPr>
              <a:t>주요 필드 기준으로 태그화 및 조건 필드 생성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 후 </a:t>
            </a:r>
            <a:r>
              <a:rPr lang="en-US" altLang="ko-KR" dirty="0">
                <a:latin typeface="Nanum Square" panose="020B0600000101010101" charset="-127"/>
                <a:ea typeface="Nanum Square" panose="020B0600000101010101" charset="-127"/>
              </a:rPr>
              <a:t>DB</a:t>
            </a:r>
            <a:r>
              <a:rPr lang="ko-KR" altLang="en-US" dirty="0">
                <a:latin typeface="Nanum Square" panose="020B0600000101010101" charset="-127"/>
                <a:ea typeface="Nanum Square" panose="020B0600000101010101" charset="-127"/>
              </a:rPr>
              <a:t>화</a:t>
            </a:r>
            <a:endParaRPr lang="en-US" altLang="ko-KR" dirty="0">
              <a:latin typeface="Nanum Square" panose="020B0600000101010101" charset="-127"/>
              <a:ea typeface="Nanum Square" panose="020B0600000101010101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A21C83-0457-9AFC-6AC8-2D72AF4A6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537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이제 저희 팀의 업무 분장과 협업 과정을 말씀드리겠습니다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저희 팀은 </a:t>
            </a:r>
            <a:r>
              <a:rPr lang="en-US" altLang="ko-KR" dirty="0" smtClean="0"/>
              <a:t>4</a:t>
            </a:r>
            <a:r>
              <a:rPr lang="ko-KR" altLang="en-US" dirty="0" smtClean="0"/>
              <a:t>명이 같이 하지만 각자 맡은 역할을 명확히 나누고 마지막으로 합쳐 하나로 만들려고 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데이터 분석 파트는 크게 두가지로 나눴으며 </a:t>
            </a: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첫번째는 부동산 데이터로 </a:t>
            </a:r>
            <a:r>
              <a:rPr lang="ko-KR" altLang="en-US" dirty="0" err="1" smtClean="0"/>
              <a:t>실거래가와</a:t>
            </a:r>
            <a:r>
              <a:rPr lang="ko-KR" altLang="en-US" dirty="0" smtClean="0"/>
              <a:t> 정부정책 데이터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두번째는 임대료에 영향을 줄 수 있는 변수 데이터입니다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변수 데이터는 </a:t>
            </a:r>
            <a:r>
              <a:rPr lang="en-US" altLang="ko-KR" dirty="0" smtClean="0"/>
              <a:t>~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입니다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이를 통해 예측 모델이 학습할 수 있는 형태로 구조화 하려고 진행중입니다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 smtClean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831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440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두번쨰는</a:t>
            </a:r>
            <a:r>
              <a:rPr lang="ko-KR" altLang="en-US" dirty="0" smtClean="0"/>
              <a:t> 임대료에 영향을 줄 수 있는 변수 데이터입니다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변수 데이터는 </a:t>
            </a:r>
            <a:r>
              <a:rPr lang="en-US" altLang="ko-KR" dirty="0" smtClean="0"/>
              <a:t>~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입니다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이를 통해 예측 모델이 학습할 수 있는 형태로 구조화 하려고 진행중입니다</a:t>
            </a:r>
            <a:r>
              <a:rPr lang="en-US" altLang="ko-KR" baseline="0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620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데이터로 청년의 집 걱정을 덜어주는 서비스를 구현해보고자 하는 프로젝트 입니다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r>
              <a:rPr lang="ko-KR" altLang="en-US" dirty="0" smtClean="0"/>
              <a:t>감사합니다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65809-3EA1-49B1-B3F2-8C30B02E050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113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87891" y="2019300"/>
            <a:ext cx="0" cy="2136120"/>
          </a:xfrm>
          <a:prstGeom prst="line">
            <a:avLst/>
          </a:prstGeom>
          <a:ln w="9525" cap="flat">
            <a:solidFill>
              <a:srgbClr val="0B6E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57400" y="2019300"/>
            <a:ext cx="13171370" cy="2252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6"/>
              </a:lnSpc>
            </a:pPr>
            <a:r>
              <a:rPr lang="en-US" sz="6600" b="1" spc="83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청년주거시설</a:t>
            </a:r>
            <a:r>
              <a:rPr lang="en-US" sz="6600" b="1" spc="83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6600" b="1" spc="83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가격</a:t>
            </a:r>
            <a:r>
              <a:rPr lang="en-US" sz="6600" b="1" spc="83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6600" b="1" spc="83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예측</a:t>
            </a:r>
            <a:r>
              <a:rPr lang="en-US" sz="6600" b="1" spc="83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및</a:t>
            </a:r>
          </a:p>
          <a:p>
            <a:pPr algn="l">
              <a:lnSpc>
                <a:spcPts val="8806"/>
              </a:lnSpc>
            </a:pPr>
            <a:r>
              <a:rPr lang="en-US" sz="6600" b="1" spc="83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정부</a:t>
            </a:r>
            <a:r>
              <a:rPr lang="en-US" sz="6600" b="1" spc="83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6600" b="1" spc="83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지원</a:t>
            </a:r>
            <a:r>
              <a:rPr lang="en-US" sz="6600" b="1" spc="83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6600" b="1" spc="83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제도</a:t>
            </a:r>
            <a:r>
              <a:rPr lang="en-US" sz="6600" b="1" spc="83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6600" b="1" spc="83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추천</a:t>
            </a:r>
            <a:r>
              <a:rPr lang="en-US" sz="6600" b="1" spc="83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6600" b="1" spc="83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서비스</a:t>
            </a:r>
            <a:r>
              <a:rPr lang="en-US" sz="6600" b="1" spc="83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5400" b="1" spc="83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v0.2</a:t>
            </a:r>
            <a:endParaRPr lang="en-US" sz="4400" b="1" spc="83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96856" y="1485894"/>
            <a:ext cx="2546544" cy="371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638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Helios Extended Bold"/>
                <a:sym typeface="Helios Extended Bold"/>
              </a:rPr>
              <a:t>PROJECT 1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0737865" y="4619280"/>
            <a:ext cx="6521435" cy="5667720"/>
          </a:xfrm>
          <a:custGeom>
            <a:avLst/>
            <a:gdLst/>
            <a:ahLst/>
            <a:cxnLst/>
            <a:rect l="l" t="t" r="r" b="b"/>
            <a:pathLst>
              <a:path w="6521435" h="5667720">
                <a:moveTo>
                  <a:pt x="6521435" y="0"/>
                </a:moveTo>
                <a:lnTo>
                  <a:pt x="0" y="0"/>
                </a:lnTo>
                <a:lnTo>
                  <a:pt x="0" y="5667720"/>
                </a:lnTo>
                <a:lnTo>
                  <a:pt x="6521435" y="5667720"/>
                </a:lnTo>
                <a:lnTo>
                  <a:pt x="652143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40221" y="5678801"/>
            <a:ext cx="5302321" cy="4608199"/>
          </a:xfrm>
          <a:custGeom>
            <a:avLst/>
            <a:gdLst/>
            <a:ahLst/>
            <a:cxnLst/>
            <a:rect l="l" t="t" r="r" b="b"/>
            <a:pathLst>
              <a:path w="5302321" h="4608199">
                <a:moveTo>
                  <a:pt x="5302321" y="0"/>
                </a:moveTo>
                <a:lnTo>
                  <a:pt x="0" y="0"/>
                </a:lnTo>
                <a:lnTo>
                  <a:pt x="0" y="4608199"/>
                </a:lnTo>
                <a:lnTo>
                  <a:pt x="5302321" y="4608199"/>
                </a:lnTo>
                <a:lnTo>
                  <a:pt x="530232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3" name="AutoShape 3"/>
          <p:cNvSpPr/>
          <p:nvPr/>
        </p:nvSpPr>
        <p:spPr>
          <a:xfrm flipH="1">
            <a:off x="1035384" y="1028700"/>
            <a:ext cx="5786101" cy="4763"/>
          </a:xfrm>
          <a:prstGeom prst="line">
            <a:avLst/>
          </a:prstGeom>
          <a:ln w="9525" cap="flat">
            <a:solidFill>
              <a:srgbClr val="0B6E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342211" y="3153428"/>
            <a:ext cx="4397278" cy="588173"/>
            <a:chOff x="0" y="-54057"/>
            <a:chExt cx="5863037" cy="784230"/>
          </a:xfrm>
        </p:grpSpPr>
        <p:sp>
          <p:nvSpPr>
            <p:cNvPr id="5" name="AutoShape 5"/>
            <p:cNvSpPr/>
            <p:nvPr/>
          </p:nvSpPr>
          <p:spPr>
            <a:xfrm>
              <a:off x="957997" y="0"/>
              <a:ext cx="0" cy="730173"/>
            </a:xfrm>
            <a:prstGeom prst="line">
              <a:avLst/>
            </a:prstGeom>
            <a:ln w="15365" cap="flat">
              <a:solidFill>
                <a:srgbClr val="0B6E6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>
                <a:latin typeface="HY중고딕" panose="02030600000101010101" pitchFamily="18" charset="-127"/>
                <a:ea typeface="HY중고딕" panose="02030600000101010101" pitchFamily="18" charset="-127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5891" y="-54057"/>
              <a:ext cx="4467146" cy="757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44"/>
                </a:lnSpc>
                <a:spcBef>
                  <a:spcPct val="0"/>
                </a:spcBef>
              </a:pPr>
              <a:r>
                <a:rPr lang="en-US" sz="3103" b="1" spc="-266" dirty="0" err="1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Nanum Square Ultra-Bold"/>
                  <a:sym typeface="Nanum Square Ultra-Bold"/>
                </a:rPr>
                <a:t>기획</a:t>
              </a:r>
              <a:r>
                <a:rPr lang="en-US" sz="3103" b="1" spc="-266" dirty="0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Nanum Square Ultra-Bold"/>
                  <a:sym typeface="Nanum Square Ultra-Bold"/>
                </a:rPr>
                <a:t> </a:t>
              </a:r>
              <a:r>
                <a:rPr lang="en-US" sz="3103" b="1" spc="-266" dirty="0" err="1" smtClean="0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Nanum Square Ultra-Bold"/>
                  <a:sym typeface="Nanum Square Ultra-Bold"/>
                </a:rPr>
                <a:t>의도</a:t>
              </a:r>
              <a:endParaRPr lang="en-US" sz="3103" b="1" spc="-26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44643"/>
              <a:ext cx="656480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2"/>
                </a:lnSpc>
              </a:pPr>
              <a:r>
                <a:rPr lang="en-US" sz="2903" b="1" dirty="0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Helios Extended Bold"/>
                  <a:sym typeface="Helios Extended Bold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42211" y="5073096"/>
            <a:ext cx="4397278" cy="666849"/>
            <a:chOff x="0" y="-112738"/>
            <a:chExt cx="5863037" cy="889132"/>
          </a:xfrm>
        </p:grpSpPr>
        <p:sp>
          <p:nvSpPr>
            <p:cNvPr id="9" name="AutoShape 9"/>
            <p:cNvSpPr/>
            <p:nvPr/>
          </p:nvSpPr>
          <p:spPr>
            <a:xfrm>
              <a:off x="957997" y="0"/>
              <a:ext cx="0" cy="730173"/>
            </a:xfrm>
            <a:prstGeom prst="line">
              <a:avLst/>
            </a:prstGeom>
            <a:ln w="15365" cap="flat">
              <a:solidFill>
                <a:srgbClr val="0B6E6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>
                <a:latin typeface="HY중고딕" panose="02030600000101010101" pitchFamily="18" charset="-127"/>
                <a:ea typeface="HY중고딕" panose="02030600000101010101" pitchFamily="18" charset="-127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95891" y="-112738"/>
              <a:ext cx="4467146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45"/>
                </a:lnSpc>
                <a:spcBef>
                  <a:spcPct val="0"/>
                </a:spcBef>
              </a:pPr>
              <a:r>
                <a:rPr lang="en-US" sz="3103" b="1" spc="-266" dirty="0" err="1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Nanum Square Ultra-Bold"/>
                  <a:sym typeface="Nanum Square Ultra-Bold"/>
                </a:rPr>
                <a:t>개발</a:t>
              </a:r>
              <a:r>
                <a:rPr lang="en-US" sz="3103" b="1" spc="-266" dirty="0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Nanum Square Ultra-Bold"/>
                  <a:sym typeface="Nanum Square Ultra-Bold"/>
                </a:rPr>
                <a:t> </a:t>
              </a:r>
              <a:r>
                <a:rPr lang="en-US" sz="3103" b="1" spc="-266" dirty="0" err="1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Nanum Square Ultra-Bold"/>
                  <a:sym typeface="Nanum Square Ultra-Bold"/>
                </a:rPr>
                <a:t>목표</a:t>
              </a:r>
              <a:endParaRPr lang="en-US" sz="3103" b="1" spc="-26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44643"/>
              <a:ext cx="720820" cy="547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2"/>
                </a:lnSpc>
              </a:pPr>
              <a:r>
                <a:rPr lang="en-US" sz="2903" b="1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Helios Extended Bold"/>
                  <a:sym typeface="Helios Extended Bold"/>
                </a:rPr>
                <a:t>02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342211" y="7080786"/>
            <a:ext cx="4397278" cy="666849"/>
            <a:chOff x="0" y="-54056"/>
            <a:chExt cx="5863037" cy="889133"/>
          </a:xfrm>
        </p:grpSpPr>
        <p:sp>
          <p:nvSpPr>
            <p:cNvPr id="13" name="AutoShape 13"/>
            <p:cNvSpPr/>
            <p:nvPr/>
          </p:nvSpPr>
          <p:spPr>
            <a:xfrm>
              <a:off x="957997" y="0"/>
              <a:ext cx="0" cy="730173"/>
            </a:xfrm>
            <a:prstGeom prst="line">
              <a:avLst/>
            </a:prstGeom>
            <a:ln w="15365" cap="flat">
              <a:solidFill>
                <a:srgbClr val="0B6E6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>
                <a:latin typeface="HY중고딕" panose="02030600000101010101" pitchFamily="18" charset="-127"/>
                <a:ea typeface="HY중고딕" panose="02030600000101010101" pitchFamily="18" charset="-127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5891" y="-54056"/>
              <a:ext cx="4467146" cy="889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45"/>
                </a:lnSpc>
                <a:spcBef>
                  <a:spcPct val="0"/>
                </a:spcBef>
              </a:pPr>
              <a:r>
                <a:rPr lang="en-US" sz="3103" b="1" spc="-266" dirty="0" err="1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Nanum Square Ultra-Bold"/>
                  <a:sym typeface="Nanum Square Ultra-Bold"/>
                </a:rPr>
                <a:t>업무</a:t>
              </a:r>
              <a:r>
                <a:rPr lang="en-US" sz="3103" b="1" spc="-266" dirty="0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Nanum Square Ultra-Bold"/>
                  <a:sym typeface="Nanum Square Ultra-Bold"/>
                </a:rPr>
                <a:t> </a:t>
              </a:r>
              <a:r>
                <a:rPr lang="en-US" sz="3103" b="1" spc="-266" dirty="0" err="1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Nanum Square Ultra-Bold"/>
                  <a:sym typeface="Nanum Square Ultra-Bold"/>
                </a:rPr>
                <a:t>분장</a:t>
              </a:r>
              <a:endParaRPr lang="en-US" sz="3103" b="1" spc="-26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44643"/>
              <a:ext cx="720820" cy="547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2"/>
                </a:lnSpc>
              </a:pPr>
              <a:r>
                <a:rPr lang="en-US" sz="2903" b="1">
                  <a:solidFill>
                    <a:srgbClr val="0B6E6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Helios Extended Bold"/>
                  <a:sym typeface="Helios Extended Bold"/>
                </a:rPr>
                <a:t>03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4800" y="1257300"/>
            <a:ext cx="6861347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49"/>
              </a:lnSpc>
            </a:pPr>
            <a:r>
              <a:rPr lang="en-US" sz="6891" b="1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Helios Extended Bold"/>
                <a:sym typeface="Helios Extended Bold"/>
              </a:rPr>
              <a:t>CONTENT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1545" y="3038196"/>
            <a:ext cx="7177270" cy="5415853"/>
          </a:xfrm>
          <a:custGeom>
            <a:avLst/>
            <a:gdLst/>
            <a:ahLst/>
            <a:cxnLst/>
            <a:rect l="l" t="t" r="r" b="b"/>
            <a:pathLst>
              <a:path w="7177270" h="5415853">
                <a:moveTo>
                  <a:pt x="0" y="0"/>
                </a:moveTo>
                <a:lnTo>
                  <a:pt x="7177270" y="0"/>
                </a:lnTo>
                <a:lnTo>
                  <a:pt x="7177270" y="5415853"/>
                </a:lnTo>
                <a:lnTo>
                  <a:pt x="0" y="5415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956507" y="3988442"/>
            <a:ext cx="739958" cy="1046213"/>
          </a:xfrm>
          <a:custGeom>
            <a:avLst/>
            <a:gdLst/>
            <a:ahLst/>
            <a:cxnLst/>
            <a:rect l="l" t="t" r="r" b="b"/>
            <a:pathLst>
              <a:path w="739958" h="1046213">
                <a:moveTo>
                  <a:pt x="0" y="0"/>
                </a:moveTo>
                <a:lnTo>
                  <a:pt x="739958" y="0"/>
                </a:lnTo>
                <a:lnTo>
                  <a:pt x="739958" y="1046214"/>
                </a:lnTo>
                <a:lnTo>
                  <a:pt x="0" y="10462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070069"/>
            <a:ext cx="40005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01. </a:t>
            </a:r>
            <a:r>
              <a:rPr lang="en-US" sz="5072" b="1" spc="-446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기획</a:t>
            </a: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5072" b="1" spc="-446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의도</a:t>
            </a:r>
            <a:endParaRPr lang="en-US" sz="5072" b="1" spc="-446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803009" y="1223762"/>
            <a:ext cx="927342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청년들은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어디서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,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어떻게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집을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구해야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하나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82200" y="3049906"/>
            <a:ext cx="6238581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1"/>
              </a:lnSpc>
              <a:spcBef>
                <a:spcPct val="0"/>
              </a:spcBef>
            </a:pPr>
            <a:r>
              <a:rPr lang="en-US" sz="2462" b="1" spc="-21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주거비</a:t>
            </a:r>
            <a:r>
              <a:rPr lang="en-US" sz="2462" b="1" spc="-21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462" b="1" spc="-21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부담</a:t>
            </a:r>
            <a:r>
              <a:rPr lang="en-US" sz="2462" b="1" spc="-21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 , </a:t>
            </a:r>
            <a:r>
              <a:rPr lang="en-US" sz="2462" b="1" spc="-21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전세</a:t>
            </a:r>
            <a:r>
              <a:rPr lang="en-US" sz="2462" b="1" spc="-21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462" b="1" spc="-21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사기</a:t>
            </a:r>
            <a:r>
              <a:rPr lang="en-US" sz="2462" b="1" spc="-21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, </a:t>
            </a:r>
            <a:r>
              <a:rPr lang="en-US" sz="2462" b="1" spc="-21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대출</a:t>
            </a:r>
            <a:r>
              <a:rPr lang="en-US" sz="2462" b="1" spc="-21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462" b="1" spc="-21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한도</a:t>
            </a:r>
            <a:r>
              <a:rPr lang="en-US" sz="2462" b="1" spc="-21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462" b="1" spc="-21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문제</a:t>
            </a:r>
            <a:r>
              <a:rPr lang="en-US" sz="2462" b="1" spc="-21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93672" y="6424004"/>
            <a:ext cx="7865628" cy="223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4"/>
              </a:lnSpc>
              <a:spcBef>
                <a:spcPct val="0"/>
              </a:spcBef>
            </a:pP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정부</a:t>
            </a: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, </a:t>
            </a: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지자체</a:t>
            </a: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다양한</a:t>
            </a: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지원</a:t>
            </a: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정책</a:t>
            </a: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 </a:t>
            </a: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접근성이</a:t>
            </a: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낮아</a:t>
            </a:r>
            <a:endParaRPr lang="en-US" sz="2800" b="1" spc="-281" dirty="0">
              <a:solidFill>
                <a:srgbClr val="FF3131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Bold"/>
              <a:sym typeface="Nanum Square Bold"/>
            </a:endParaRPr>
          </a:p>
          <a:p>
            <a:pPr algn="ctr">
              <a:lnSpc>
                <a:spcPts val="5524"/>
              </a:lnSpc>
              <a:spcBef>
                <a:spcPct val="0"/>
              </a:spcBef>
            </a:pP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(</a:t>
            </a: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전·월세</a:t>
            </a: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보조금</a:t>
            </a: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, </a:t>
            </a: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청년</a:t>
            </a: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2800" b="1" spc="-281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주택대출</a:t>
            </a:r>
            <a:r>
              <a:rPr lang="en-US" sz="2800" b="1" spc="-281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등)</a:t>
            </a:r>
          </a:p>
          <a:p>
            <a:pPr algn="ctr">
              <a:lnSpc>
                <a:spcPts val="6392"/>
              </a:lnSpc>
              <a:spcBef>
                <a:spcPct val="0"/>
              </a:spcBef>
            </a:pPr>
            <a:r>
              <a:rPr lang="en-US" sz="3782" b="1" spc="-325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활용률</a:t>
            </a:r>
            <a:r>
              <a:rPr lang="en-US" sz="3782" b="1" spc="-325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3782" b="1" spc="-325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낮음</a:t>
            </a:r>
            <a:endParaRPr lang="en-US" sz="3782" b="1" spc="-325" dirty="0">
              <a:solidFill>
                <a:srgbClr val="FF3131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991600" y="5295900"/>
            <a:ext cx="8839199" cy="605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44"/>
              </a:lnSpc>
              <a:spcBef>
                <a:spcPct val="0"/>
              </a:spcBef>
            </a:pPr>
            <a:r>
              <a:rPr lang="en-US" sz="4400" b="1" spc="-27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안정적인</a:t>
            </a:r>
            <a:r>
              <a:rPr lang="en-US" sz="4400" b="1" spc="-27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4400" b="1" spc="-27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거주</a:t>
            </a:r>
            <a:r>
              <a:rPr lang="en-US" sz="4400" b="1" spc="-27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4400" b="1" spc="-27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환경</a:t>
            </a:r>
            <a:r>
              <a:rPr lang="en-US" sz="4400" b="1" spc="-27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4400" b="1" spc="-27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확보에</a:t>
            </a:r>
            <a:r>
              <a:rPr lang="en-US" sz="4400" b="1" spc="-271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4400" b="1" spc="-271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어려움</a:t>
            </a:r>
            <a:endParaRPr lang="en-US" sz="4400" b="1" spc="-271" dirty="0">
              <a:solidFill>
                <a:srgbClr val="004AAD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070069"/>
            <a:ext cx="40005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01. </a:t>
            </a:r>
            <a:r>
              <a:rPr lang="en-US" sz="5072" b="1" spc="-446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기획</a:t>
            </a: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5072" b="1" spc="-446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의도</a:t>
            </a:r>
            <a:endParaRPr lang="en-US" sz="5072" b="1" spc="-446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800600" y="1230208"/>
            <a:ext cx="9273426" cy="39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청년들은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어디서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,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어떻게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집을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구해야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하나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?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5230274" y="3032126"/>
            <a:ext cx="782745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7"/>
              </a:lnSpc>
            </a:pPr>
            <a:r>
              <a:rPr lang="en-US" sz="3028" spc="-26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데이터 분석을 통해</a:t>
            </a:r>
          </a:p>
          <a:p>
            <a:pPr marL="0" lvl="0" indent="0" algn="ctr">
              <a:lnSpc>
                <a:spcPts val="5117"/>
              </a:lnSpc>
              <a:spcBef>
                <a:spcPct val="0"/>
              </a:spcBef>
            </a:pPr>
            <a:r>
              <a:rPr lang="en-US" sz="3028" spc="-26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청년이 원하는 지역과 예산을 입력하면</a:t>
            </a:r>
          </a:p>
        </p:txBody>
      </p:sp>
      <p:sp>
        <p:nvSpPr>
          <p:cNvPr id="10" name="TextBox 6"/>
          <p:cNvSpPr txBox="1"/>
          <p:nvPr/>
        </p:nvSpPr>
        <p:spPr>
          <a:xfrm>
            <a:off x="4860911" y="4972050"/>
            <a:ext cx="8566179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8579" lvl="1" indent="-359290" algn="ctr">
              <a:lnSpc>
                <a:spcPts val="5624"/>
              </a:lnSpc>
              <a:buAutoNum type="arabicPeriod"/>
            </a:pP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해당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지역의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예상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전·월세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시세를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예측</a:t>
            </a:r>
            <a:endParaRPr lang="en-US" sz="3328" spc="-286" dirty="0">
              <a:solidFill>
                <a:srgbClr val="FF3131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"/>
              <a:sym typeface="Nanum Square"/>
            </a:endParaRPr>
          </a:p>
          <a:p>
            <a:pPr algn="ctr">
              <a:lnSpc>
                <a:spcPts val="5624"/>
              </a:lnSpc>
            </a:pP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2.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조건에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맞는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정부지원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프로그램을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자동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추천</a:t>
            </a:r>
            <a:endParaRPr lang="en-US" sz="3328" spc="-286" dirty="0">
              <a:solidFill>
                <a:srgbClr val="FF3131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"/>
              <a:sym typeface="Nanum Square"/>
            </a:endParaRPr>
          </a:p>
          <a:p>
            <a:pPr marL="0" lvl="0" indent="0" algn="ctr">
              <a:lnSpc>
                <a:spcPts val="5624"/>
              </a:lnSpc>
              <a:spcBef>
                <a:spcPct val="0"/>
              </a:spcBef>
            </a:pP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3.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카카오맵</a:t>
            </a:r>
            <a:r>
              <a:rPr lang="en-US" sz="3328" spc="-286" dirty="0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 </a:t>
            </a:r>
            <a:r>
              <a:rPr lang="en-US" sz="3328" spc="-286" dirty="0" err="1">
                <a:solidFill>
                  <a:srgbClr val="FF3131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"/>
                <a:sym typeface="Nanum Square"/>
              </a:rPr>
              <a:t>구현</a:t>
            </a:r>
            <a:endParaRPr lang="en-US" sz="3328" spc="-286" dirty="0">
              <a:solidFill>
                <a:srgbClr val="FF3131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"/>
              <a:sym typeface="Nanum Square"/>
            </a:endParaRPr>
          </a:p>
        </p:txBody>
      </p:sp>
      <p:sp>
        <p:nvSpPr>
          <p:cNvPr id="11" name="TextBox 5"/>
          <p:cNvSpPr txBox="1"/>
          <p:nvPr/>
        </p:nvSpPr>
        <p:spPr>
          <a:xfrm>
            <a:off x="1049266" y="7886922"/>
            <a:ext cx="16189468" cy="156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4"/>
              </a:lnSpc>
              <a:spcBef>
                <a:spcPct val="0"/>
              </a:spcBef>
            </a:pP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즉, “</a:t>
            </a:r>
            <a:r>
              <a:rPr lang="en-US" sz="3600" b="1" spc="-309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청년이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3600" b="1" spc="-309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부동산을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 </a:t>
            </a:r>
            <a:r>
              <a:rPr lang="en-US" sz="3600" b="1" spc="-309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몰라도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, </a:t>
            </a:r>
            <a:r>
              <a:rPr lang="en-US" sz="3600" b="1" spc="-309" dirty="0" smtClean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                                                                                                         </a:t>
            </a:r>
            <a:r>
              <a:rPr lang="en-US" sz="3600" b="1" spc="-309" dirty="0" err="1" smtClean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클릭</a:t>
            </a:r>
            <a:r>
              <a:rPr lang="en-US" sz="3600" b="1" spc="-309" dirty="0" smtClean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한 </a:t>
            </a:r>
            <a:r>
              <a:rPr lang="en-US" sz="3600" b="1" spc="-309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번으로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3600" b="1" spc="-309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최적의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3600" b="1" spc="-309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주거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3600" b="1" spc="-309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선택을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3600" b="1" spc="-309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돕는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 </a:t>
            </a:r>
            <a:r>
              <a:rPr lang="en-US" sz="3600" b="1" spc="-309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서비스”를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3600" b="1" spc="-309" dirty="0" err="1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만드는</a:t>
            </a:r>
            <a:r>
              <a:rPr lang="en-US" sz="3600" b="1" spc="-309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것</a:t>
            </a:r>
          </a:p>
        </p:txBody>
      </p:sp>
    </p:spTree>
    <p:extLst>
      <p:ext uri="{BB962C8B-B14F-4D97-AF65-F5344CB8AC3E}">
        <p14:creationId xmlns:p14="http://schemas.microsoft.com/office/powerpoint/2010/main" val="231504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070069"/>
            <a:ext cx="40767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02. </a:t>
            </a:r>
            <a:r>
              <a:rPr lang="ko-KR" alt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개발 목표</a:t>
            </a:r>
            <a:endParaRPr lang="en-US" sz="5072" b="1" spc="-446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</p:txBody>
      </p:sp>
      <p:sp>
        <p:nvSpPr>
          <p:cNvPr id="17" name="TextBox 5"/>
          <p:cNvSpPr txBox="1"/>
          <p:nvPr/>
        </p:nvSpPr>
        <p:spPr>
          <a:xfrm>
            <a:off x="1524000" y="2175828"/>
            <a:ext cx="1532054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2999" b="1" spc="-215" dirty="0">
                <a:solidFill>
                  <a:srgbClr val="004AAD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“ 청년이 언제, 어디에, 어떤 조건으로 이사하면 가장 합리적인지를 데이터로 알려주는 서비스 </a:t>
            </a:r>
            <a:r>
              <a:rPr lang="en-US" sz="2999" b="1" spc="-215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”</a:t>
            </a:r>
          </a:p>
        </p:txBody>
      </p:sp>
      <p:sp>
        <p:nvSpPr>
          <p:cNvPr id="23" name="TextBox 5"/>
          <p:cNvSpPr txBox="1"/>
          <p:nvPr/>
        </p:nvSpPr>
        <p:spPr>
          <a:xfrm>
            <a:off x="4648200" y="1177546"/>
            <a:ext cx="927342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청년들은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어디서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,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어떻게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집을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구해야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하나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?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1752599" y="3390900"/>
            <a:ext cx="2514601" cy="1295399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중고딕" panose="02030600000101010101" pitchFamily="18" charset="-127"/>
                <a:ea typeface="HY중고딕" panose="02030600000101010101" pitchFamily="18" charset="-127"/>
              </a:rPr>
              <a:t>전월세 </a:t>
            </a:r>
            <a:endParaRPr lang="en-US" altLang="ko-K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중고딕" panose="02030600000101010101" pitchFamily="18" charset="-127"/>
              <a:ea typeface="HY중고딕" panose="02030600000101010101" pitchFamily="18" charset="-127"/>
            </a:endParaRPr>
          </a:p>
          <a:p>
            <a:pPr algn="ctr"/>
            <a:r>
              <a:rPr lang="ko-KR" alt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중고딕" panose="02030600000101010101" pitchFamily="18" charset="-127"/>
                <a:ea typeface="HY중고딕" panose="02030600000101010101" pitchFamily="18" charset="-127"/>
              </a:rPr>
              <a:t>가격 예측</a:t>
            </a:r>
            <a:endParaRPr lang="en-US" altLang="ko-K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454305" y="5780449"/>
            <a:ext cx="3352801" cy="1447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중고딕" panose="02030600000101010101" pitchFamily="18" charset="-127"/>
                <a:ea typeface="HY중고딕" panose="02030600000101010101" pitchFamily="18" charset="-127"/>
              </a:rPr>
              <a:t>정부 지원 제도</a:t>
            </a:r>
            <a:endParaRPr lang="en-US" altLang="ko-K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중고딕" panose="02030600000101010101" pitchFamily="18" charset="-127"/>
              <a:ea typeface="HY중고딕" panose="02030600000101010101" pitchFamily="18" charset="-127"/>
            </a:endParaRPr>
          </a:p>
          <a:p>
            <a:pPr algn="ctr"/>
            <a:r>
              <a:rPr lang="ko-KR" alt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중고딕" panose="02030600000101010101" pitchFamily="18" charset="-127"/>
                <a:ea typeface="HY중고딕" panose="02030600000101010101" pitchFamily="18" charset="-127"/>
              </a:rPr>
              <a:t>추천</a:t>
            </a:r>
            <a:endParaRPr lang="en-US" altLang="ko-K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803132" y="8234081"/>
            <a:ext cx="2608637" cy="13716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중고딕" panose="02030600000101010101" pitchFamily="18" charset="-127"/>
                <a:ea typeface="HY중고딕" panose="02030600000101010101" pitchFamily="18" charset="-127"/>
              </a:rPr>
              <a:t>카카오맵</a:t>
            </a:r>
            <a:r>
              <a:rPr lang="ko-KR" alt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중고딕" panose="02030600000101010101" pitchFamily="18" charset="-127"/>
                <a:ea typeface="HY중고딕" panose="02030600000101010101" pitchFamily="18" charset="-127"/>
              </a:rPr>
              <a:t> 구현</a:t>
            </a:r>
            <a:endParaRPr lang="en-US" altLang="ko-K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724399" y="3151745"/>
            <a:ext cx="7159035" cy="166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8876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가용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자금</a:t>
            </a:r>
            <a:r>
              <a:rPr lang="ko-KR" altLang="en-US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에 따른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임대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가능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매물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ko-KR" altLang="en-US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예측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,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추천</a:t>
            </a:r>
            <a:endParaRPr lang="en-US" altLang="ko-KR" sz="2400" spc="-24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Bold"/>
              <a:sym typeface="Nanum Square Bold"/>
            </a:endParaRPr>
          </a:p>
          <a:p>
            <a:pPr marL="748876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선정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매물의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향후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가격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변동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예측</a:t>
            </a:r>
            <a:endParaRPr lang="en-US" altLang="ko-KR" sz="2400" spc="-24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Bold"/>
              <a:sym typeface="Nanum Square Bold"/>
            </a:endParaRPr>
          </a:p>
          <a:p>
            <a:pPr marL="748876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예측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시점에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따른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최</a:t>
            </a:r>
            <a:r>
              <a:rPr lang="ko-KR" altLang="en-US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종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이사일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제안</a:t>
            </a:r>
            <a:endParaRPr lang="en-US" altLang="ko-KR" sz="2400" spc="-24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5400" y="5848500"/>
            <a:ext cx="13147289" cy="111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산발적으로 퍼져있는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정부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,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지차체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,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공기업</a:t>
            </a:r>
            <a:r>
              <a:rPr lang="ko-KR" altLang="en-US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등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 smtClean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지원제도</a:t>
            </a:r>
            <a:r>
              <a:rPr lang="ko-KR" altLang="en-US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를</a:t>
            </a:r>
            <a:r>
              <a:rPr lang="en-US" altLang="ko-KR" sz="2400" spc="-240" dirty="0" smtClean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한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사이트에서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확인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가능한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서비스</a:t>
            </a:r>
            <a:endParaRPr lang="en-US" altLang="ko-KR" sz="2400" spc="-24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Bold"/>
              <a:sym typeface="Nanum Square Bold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개인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조건을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기반으로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개개인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맞춤형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제도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추천</a:t>
            </a:r>
            <a:endParaRPr lang="en-US" altLang="ko-KR" sz="2400" spc="-24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202444" y="8219618"/>
            <a:ext cx="8153400" cy="111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지도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기반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매물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시각화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기능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구현</a:t>
            </a:r>
            <a:endParaRPr lang="en-US" altLang="ko-KR" sz="2400" spc="-24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Bold"/>
              <a:sym typeface="Nanum Square Bold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예측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결과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및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추천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정보를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지도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상에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직관적으로</a:t>
            </a:r>
            <a:r>
              <a:rPr lang="en-US" altLang="ko-KR" sz="2400" spc="-240" dirty="0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altLang="ko-KR" sz="2400" spc="-240" dirty="0" err="1">
                <a:solidFill>
                  <a:srgbClr val="00000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Bold"/>
                <a:sym typeface="Nanum Square Bold"/>
              </a:rPr>
              <a:t>표시</a:t>
            </a:r>
            <a:endParaRPr lang="en-US" altLang="ko-KR" sz="2400" spc="-24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1" name="대각선 방향의 모서리가 둥근 사각형 10"/>
          <p:cNvSpPr/>
          <p:nvPr/>
        </p:nvSpPr>
        <p:spPr>
          <a:xfrm>
            <a:off x="1295400" y="3086100"/>
            <a:ext cx="15773399" cy="1907988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대각선 방향의 모서리가 둥근 사각형 17"/>
          <p:cNvSpPr/>
          <p:nvPr/>
        </p:nvSpPr>
        <p:spPr>
          <a:xfrm>
            <a:off x="1295400" y="5527487"/>
            <a:ext cx="15773399" cy="1907988"/>
          </a:xfrm>
          <a:prstGeom prst="round2DiagRect">
            <a:avLst/>
          </a:prstGeom>
          <a:noFill/>
          <a:ln>
            <a:solidFill>
              <a:srgbClr val="0B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대각선 방향의 모서리가 둥근 사각형 18"/>
          <p:cNvSpPr/>
          <p:nvPr/>
        </p:nvSpPr>
        <p:spPr>
          <a:xfrm>
            <a:off x="1261900" y="7965887"/>
            <a:ext cx="15773399" cy="1907988"/>
          </a:xfrm>
          <a:prstGeom prst="round2DiagRect">
            <a:avLst/>
          </a:prstGeom>
          <a:noFill/>
          <a:ln>
            <a:solidFill>
              <a:srgbClr val="0B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4800600" y="3084605"/>
            <a:ext cx="0" cy="1907988"/>
          </a:xfrm>
          <a:prstGeom prst="line">
            <a:avLst/>
          </a:prstGeom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4797835" y="5527487"/>
            <a:ext cx="0" cy="1907988"/>
          </a:xfrm>
          <a:prstGeom prst="line">
            <a:avLst/>
          </a:prstGeom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4807106" y="7965887"/>
            <a:ext cx="0" cy="1907988"/>
          </a:xfrm>
          <a:prstGeom prst="line">
            <a:avLst/>
          </a:prstGeom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49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070069"/>
            <a:ext cx="71247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02_1.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257300" y="7734300"/>
            <a:ext cx="15773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“회귀 기반 모델을 통해 </a:t>
            </a:r>
            <a:r>
              <a:rPr lang="ko-KR" altLang="en-US" sz="2800" b="1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전월세 가격의 기초 구조를 분석</a:t>
            </a: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하고</a:t>
            </a:r>
            <a:r>
              <a:rPr lang="en-US" altLang="ko-KR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,</a:t>
            </a:r>
            <a:br>
              <a:rPr lang="en-US" altLang="ko-KR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</a:br>
            <a:r>
              <a:rPr lang="en-US" altLang="ko-KR" sz="2800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XGBoost</a:t>
            </a: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와 </a:t>
            </a:r>
            <a:r>
              <a:rPr lang="en-US" altLang="ko-KR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LSTM</a:t>
            </a: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을 통해 공간적</a:t>
            </a:r>
            <a:r>
              <a:rPr lang="en-US" altLang="ko-KR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·</a:t>
            </a: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시간적 요인을 통합한</a:t>
            </a:r>
            <a:b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</a:br>
            <a:r>
              <a:rPr lang="ko-KR" altLang="en-US" sz="2800" b="1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정교한 전월세 가격 예측 모델</a:t>
            </a: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을 구축함</a:t>
            </a:r>
            <a:r>
              <a:rPr lang="en-US" altLang="ko-KR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.”</a:t>
            </a:r>
            <a:endParaRPr lang="ko-KR" altLang="en-US" sz="2800" b="1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58282E1-B0E2-E57F-1596-34F49F75A262}"/>
              </a:ext>
            </a:extLst>
          </p:cNvPr>
          <p:cNvSpPr txBox="1"/>
          <p:nvPr/>
        </p:nvSpPr>
        <p:spPr>
          <a:xfrm>
            <a:off x="2819400" y="1223251"/>
            <a:ext cx="9273426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6"/>
              </a:lnSpc>
            </a:pPr>
            <a:r>
              <a:rPr lang="ko-KR" altLang="en-US" sz="3200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전월세 가격 예측 모델 개발</a:t>
            </a:r>
            <a:endParaRPr lang="en-US" sz="3200" b="1" spc="-202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1811867" y="2480099"/>
            <a:ext cx="2760133" cy="1436447"/>
          </a:xfrm>
          <a:prstGeom prst="roundRect">
            <a:avLst/>
          </a:prstGeom>
          <a:solidFill>
            <a:srgbClr val="0B6E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latinLnBrk="1">
              <a:defRPr/>
            </a:pPr>
            <a:r>
              <a:rPr lang="ko-KR" altLang="en-US" sz="3200" dirty="0" err="1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선형회귀</a:t>
            </a:r>
            <a:endParaRPr lang="ko-KR" altLang="en-US" sz="2000" dirty="0">
              <a:solidFill>
                <a:schemeClr val="bg1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811867" y="4226604"/>
            <a:ext cx="2760133" cy="1436447"/>
          </a:xfrm>
          <a:prstGeom prst="roundRect">
            <a:avLst/>
          </a:prstGeom>
          <a:solidFill>
            <a:srgbClr val="0B6E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en-US" altLang="ko-KR" sz="3200" dirty="0" err="1">
                <a:latin typeface="HY중고딕" panose="02030600000101010101" pitchFamily="18" charset="-127"/>
                <a:ea typeface="HY중고딕" panose="02030600000101010101" pitchFamily="18" charset="-127"/>
              </a:rPr>
              <a:t>XGBoost</a:t>
            </a:r>
            <a:endParaRPr lang="ko-KR" altLang="en-US" sz="3200" dirty="0">
              <a:noFill/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811867" y="6044878"/>
            <a:ext cx="2760133" cy="1436447"/>
          </a:xfrm>
          <a:prstGeom prst="roundRect">
            <a:avLst/>
          </a:prstGeom>
          <a:solidFill>
            <a:srgbClr val="0B6E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en-US" altLang="ko-KR" sz="32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LSTM</a:t>
            </a:r>
            <a:endParaRPr lang="ko-KR" altLang="en-US" sz="3200" dirty="0">
              <a:noFill/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028374" y="2921322"/>
            <a:ext cx="118025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>
              <a:lnSpc>
                <a:spcPct val="150000"/>
              </a:lnSpc>
              <a:defRPr/>
            </a:pP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최근 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5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년간 실 거래 부동산 데이터를 기반으로 가격 형성 </a:t>
            </a:r>
            <a:r>
              <a:rPr lang="ko-KR" altLang="en-US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요인과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변동 추</a:t>
            </a:r>
            <a:r>
              <a:rPr lang="ko-KR" altLang="en-US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세를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분석하기 위해 적용</a:t>
            </a:r>
            <a:endParaRPr lang="en-US" altLang="ko-KR" sz="2000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118100" y="4436995"/>
            <a:ext cx="11125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lvl="2" latinLnBrk="1">
              <a:lnSpc>
                <a:spcPct val="150000"/>
              </a:lnSpc>
              <a:defRPr/>
            </a:pP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위치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·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인프라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·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인구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·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상권 등 비 </a:t>
            </a:r>
            <a:r>
              <a:rPr lang="ko-KR" altLang="en-US" sz="2000" dirty="0" err="1">
                <a:latin typeface="HY중고딕" panose="02030600000101010101" pitchFamily="18" charset="-127"/>
                <a:ea typeface="HY중고딕" panose="02030600000101010101" pitchFamily="18" charset="-127"/>
              </a:rPr>
              <a:t>시계열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 변수 간의 비선형 관계를 학습하고</a:t>
            </a:r>
            <a:r>
              <a:rPr lang="en-US" altLang="ko-KR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,                                         </a:t>
            </a:r>
            <a:r>
              <a:rPr lang="ko-KR" altLang="en-US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변수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중요도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(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영향도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)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를 </a:t>
            </a:r>
            <a:r>
              <a:rPr lang="ko-KR" altLang="en-US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수치로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도출하기 위해 사용</a:t>
            </a:r>
            <a:endParaRPr lang="en-US" altLang="ko-KR" sz="2000" spc="-26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"/>
              <a:sym typeface="Nanum Square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004213" y="6245061"/>
            <a:ext cx="11125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lvl="2" latinLnBrk="1">
              <a:lnSpc>
                <a:spcPct val="150000"/>
              </a:lnSpc>
              <a:defRPr/>
            </a:pP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최근 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5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년간 </a:t>
            </a:r>
            <a:r>
              <a:rPr lang="ko-KR" altLang="en-US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분기별</a:t>
            </a:r>
            <a:r>
              <a:rPr lang="ko-KR" altLang="en-US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실 거래 데이터를 </a:t>
            </a:r>
            <a:r>
              <a:rPr lang="ko-KR" altLang="en-US" sz="2000" dirty="0" err="1">
                <a:latin typeface="HY중고딕" panose="02030600000101010101" pitchFamily="18" charset="-127"/>
                <a:ea typeface="HY중고딕" panose="02030600000101010101" pitchFamily="18" charset="-127"/>
              </a:rPr>
              <a:t>시계열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 구조로 변환하여</a:t>
            </a:r>
            <a:r>
              <a:rPr lang="en-US" altLang="ko-KR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,                                                             </a:t>
            </a:r>
            <a:r>
              <a:rPr lang="ko-KR" altLang="en-US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시간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흐름에 따른 가격 변동 패턴 및 추세를 예측하기 위해 적용</a:t>
            </a:r>
            <a:endParaRPr lang="en-US" altLang="ko-KR" sz="2000" spc="-26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"/>
              <a:sym typeface="Nanum Square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037666" y="6034670"/>
            <a:ext cx="11658601" cy="1436447"/>
          </a:xfrm>
          <a:prstGeom prst="roundRect">
            <a:avLst/>
          </a:prstGeom>
          <a:noFill/>
          <a:ln>
            <a:solidFill>
              <a:srgbClr val="0B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028374" y="4263632"/>
            <a:ext cx="11658600" cy="1436447"/>
          </a:xfrm>
          <a:prstGeom prst="roundRect">
            <a:avLst/>
          </a:prstGeom>
          <a:noFill/>
          <a:ln>
            <a:solidFill>
              <a:srgbClr val="0B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004213" y="2480098"/>
            <a:ext cx="11658600" cy="1436447"/>
          </a:xfrm>
          <a:prstGeom prst="roundRect">
            <a:avLst/>
          </a:prstGeom>
          <a:noFill/>
          <a:ln>
            <a:solidFill>
              <a:srgbClr val="0B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4330-E126-74D7-6F92-8E92DB92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0DA83D4-AB98-E041-7DB7-5CDE436A0EF9}"/>
              </a:ext>
            </a:extLst>
          </p:cNvPr>
          <p:cNvSpPr txBox="1"/>
          <p:nvPr/>
        </p:nvSpPr>
        <p:spPr>
          <a:xfrm>
            <a:off x="1028700" y="1070069"/>
            <a:ext cx="71247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02_2. 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211797BA-B075-5DA9-F461-CF9F1E5EF069}"/>
              </a:ext>
            </a:extLst>
          </p:cNvPr>
          <p:cNvSpPr txBox="1"/>
          <p:nvPr/>
        </p:nvSpPr>
        <p:spPr>
          <a:xfrm>
            <a:off x="2819400" y="1223251"/>
            <a:ext cx="9273426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6"/>
              </a:lnSpc>
            </a:pPr>
            <a:r>
              <a:rPr lang="ko-KR" altLang="en-US" sz="3200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정부 지원 제도 추천 알고리즘 개발</a:t>
            </a:r>
            <a:endParaRPr lang="en-US" sz="3200" b="1" spc="-202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A1EA1E-91B6-177D-A6AE-C6492FB950FC}"/>
              </a:ext>
            </a:extLst>
          </p:cNvPr>
          <p:cNvSpPr/>
          <p:nvPr/>
        </p:nvSpPr>
        <p:spPr>
          <a:xfrm>
            <a:off x="1257300" y="8530515"/>
            <a:ext cx="15773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“</a:t>
            </a:r>
            <a:r>
              <a:rPr lang="ko-KR" altLang="en-US" sz="2800" b="1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정책 조건 필터링</a:t>
            </a: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과 </a:t>
            </a:r>
            <a:r>
              <a:rPr lang="ko-KR" altLang="en-US" sz="2800" b="1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유사도 기반 추천 기법을 결합</a:t>
            </a: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하여</a:t>
            </a:r>
            <a:r>
              <a:rPr lang="en-US" altLang="ko-KR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,</a:t>
            </a:r>
            <a:br>
              <a:rPr lang="en-US" altLang="ko-KR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</a:b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개인의 특성에 최적화된 </a:t>
            </a:r>
            <a:r>
              <a:rPr lang="ko-KR" altLang="en-US" sz="2800" b="1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맞춤형 정부 지원 제도를 제안</a:t>
            </a:r>
            <a:r>
              <a:rPr lang="ko-KR" altLang="en-US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함</a:t>
            </a:r>
            <a:r>
              <a:rPr lang="en-US" altLang="ko-KR" sz="2800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.”</a:t>
            </a:r>
            <a:endParaRPr lang="ko-KR" altLang="en-US" sz="2800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2" name="오른쪽 화살표 1"/>
          <p:cNvSpPr/>
          <p:nvPr/>
        </p:nvSpPr>
        <p:spPr>
          <a:xfrm>
            <a:off x="5843026" y="2948781"/>
            <a:ext cx="1044209" cy="341401"/>
          </a:xfrm>
          <a:prstGeom prst="rightArrow">
            <a:avLst/>
          </a:prstGeom>
          <a:solidFill>
            <a:srgbClr val="0B6E69"/>
          </a:solidFill>
          <a:ln>
            <a:solidFill>
              <a:srgbClr val="0B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981200" y="2857872"/>
            <a:ext cx="30976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latinLnBrk="1">
              <a:defRPr/>
            </a:pPr>
            <a:r>
              <a:rPr lang="ko-KR" altLang="en-US" sz="2800" dirty="0">
                <a:latin typeface="HY중고딕" panose="02030600000101010101" pitchFamily="18" charset="-127"/>
                <a:ea typeface="HY중고딕" panose="02030600000101010101" pitchFamily="18" charset="-127"/>
              </a:rPr>
              <a:t>규칙 기반 </a:t>
            </a:r>
            <a:r>
              <a:rPr lang="ko-KR" altLang="en-US" sz="2800" dirty="0" err="1">
                <a:latin typeface="HY중고딕" panose="02030600000101010101" pitchFamily="18" charset="-127"/>
                <a:ea typeface="HY중고딕" panose="02030600000101010101" pitchFamily="18" charset="-127"/>
              </a:rPr>
              <a:t>필터링</a:t>
            </a:r>
            <a:endParaRPr lang="ko-KR" altLang="en-US" sz="2800" dirty="0">
              <a:noFill/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890952" y="2607895"/>
            <a:ext cx="9799502" cy="1034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>
              <a:lnSpc>
                <a:spcPct val="150000"/>
              </a:lnSpc>
              <a:defRPr/>
            </a:pP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정부 및 지자체의 지원 조건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(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나이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소득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가구 형태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거주 지역 등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)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을 정형화하고</a:t>
            </a:r>
            <a:r>
              <a:rPr lang="en-US" altLang="ko-KR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,</a:t>
            </a:r>
            <a:r>
              <a:rPr lang="ko-KR" altLang="en-US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사용자의 </a:t>
            </a:r>
            <a:r>
              <a:rPr lang="ko-KR" altLang="en-US" sz="2000" dirty="0" err="1">
                <a:latin typeface="HY중고딕" panose="02030600000101010101" pitchFamily="18" charset="-127"/>
                <a:ea typeface="HY중고딕" panose="02030600000101010101" pitchFamily="18" charset="-127"/>
              </a:rPr>
              <a:t>입력값과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 매칭하여 해당 조건을 충족하는 제도만 </a:t>
            </a:r>
            <a:r>
              <a:rPr lang="ko-KR" altLang="en-US" sz="2000" dirty="0" err="1">
                <a:latin typeface="HY중고딕" panose="02030600000101010101" pitchFamily="18" charset="-127"/>
                <a:ea typeface="HY중고딕" panose="02030600000101010101" pitchFamily="18" charset="-127"/>
              </a:rPr>
              <a:t>필터링</a:t>
            </a:r>
            <a:endParaRPr lang="en-US" altLang="ko-KR" sz="2000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887235" y="4025935"/>
            <a:ext cx="9638854" cy="1034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lvl="2" latinLnBrk="1">
              <a:lnSpc>
                <a:spcPct val="150000"/>
              </a:lnSpc>
              <a:defRPr/>
            </a:pP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조건이 유사한 사용자가 선택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·</a:t>
            </a:r>
            <a:r>
              <a:rPr lang="ko-KR" altLang="en-US" sz="2000" dirty="0" err="1">
                <a:latin typeface="HY중고딕" panose="02030600000101010101" pitchFamily="18" charset="-127"/>
                <a:ea typeface="HY중고딕" panose="02030600000101010101" pitchFamily="18" charset="-127"/>
              </a:rPr>
              <a:t>추천받은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 제도 데이터를 활용해                                                                                                     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Cosine Similarity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 또는 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KNN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기반으로 </a:t>
            </a:r>
            <a:r>
              <a:rPr lang="ko-KR" altLang="en-US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비슷한 정책을 추가 제안</a:t>
            </a:r>
            <a:endParaRPr lang="en-US" altLang="ko-KR" sz="2000" spc="-26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"/>
              <a:sym typeface="Nanum Square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890952" y="5584962"/>
            <a:ext cx="9799502" cy="1034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lvl="2" latinLnBrk="1">
              <a:lnSpc>
                <a:spcPct val="150000"/>
              </a:lnSpc>
              <a:defRPr/>
            </a:pP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각 조건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(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소득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나이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지역 등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)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에 가중치를 부여해 정책과의 적합도 점수를 계산하고</a:t>
            </a:r>
            <a:r>
              <a:rPr lang="en-US" altLang="ko-KR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20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점수가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높은 순으로 추천</a:t>
            </a:r>
            <a:endParaRPr lang="en-US" altLang="ko-KR" sz="2000" spc="-26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"/>
              <a:sym typeface="Nanum Square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887234" y="6871511"/>
            <a:ext cx="9638854" cy="1034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lvl="2" latinLnBrk="1">
              <a:lnSpc>
                <a:spcPct val="150000"/>
              </a:lnSpc>
              <a:defRPr/>
            </a:pP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복잡한 정책 정보를 개인 맞춤형으로 제공하여</a:t>
            </a:r>
            <a:r>
              <a:rPr lang="en-US" altLang="ko-KR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2000" dirty="0">
                <a:latin typeface="HY중고딕" panose="02030600000101010101" pitchFamily="18" charset="-127"/>
                <a:ea typeface="HY중고딕" panose="02030600000101010101" pitchFamily="18" charset="-127"/>
              </a:rPr>
              <a:t>청년층의 주거 정책 접근성 및 활용도를 향상</a:t>
            </a:r>
            <a:endParaRPr lang="en-US" altLang="ko-KR" sz="2000" spc="-260" dirty="0">
              <a:solidFill>
                <a:srgbClr val="00000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"/>
              <a:sym typeface="Nanum Square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981201" y="4296116"/>
            <a:ext cx="3097658" cy="533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latinLnBrk="1">
              <a:defRPr/>
            </a:pPr>
            <a:r>
              <a:rPr lang="ko-KR" altLang="en-US" sz="28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유사도 기반 추천</a:t>
            </a:r>
            <a:endParaRPr lang="ko-KR" altLang="en-US" sz="2800" dirty="0">
              <a:noFill/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37498" y="5734360"/>
            <a:ext cx="3981399" cy="533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2800" dirty="0">
                <a:latin typeface="HY중고딕" panose="02030600000101010101" pitchFamily="18" charset="-127"/>
                <a:ea typeface="HY중고딕" panose="02030600000101010101" pitchFamily="18" charset="-127"/>
              </a:rPr>
              <a:t>가중치 기반 점수 산출</a:t>
            </a:r>
            <a:endParaRPr lang="ko-KR" altLang="en-US" sz="2800" dirty="0">
              <a:noFill/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694286" y="7178238"/>
            <a:ext cx="1835411" cy="533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>
                <a:latin typeface="HY중고딕" panose="02030600000101010101" pitchFamily="18" charset="-127"/>
                <a:ea typeface="HY중고딕" panose="02030600000101010101" pitchFamily="18" charset="-127"/>
              </a:rPr>
              <a:t>기대 효과</a:t>
            </a:r>
          </a:p>
        </p:txBody>
      </p:sp>
      <p:sp>
        <p:nvSpPr>
          <p:cNvPr id="21" name="오른쪽 화살표 20"/>
          <p:cNvSpPr/>
          <p:nvPr/>
        </p:nvSpPr>
        <p:spPr>
          <a:xfrm>
            <a:off x="5859395" y="4388955"/>
            <a:ext cx="1044209" cy="341401"/>
          </a:xfrm>
          <a:prstGeom prst="rightArrow">
            <a:avLst/>
          </a:prstGeom>
          <a:solidFill>
            <a:srgbClr val="0B6E69"/>
          </a:solidFill>
          <a:ln>
            <a:solidFill>
              <a:srgbClr val="0B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22" name="오른쪽 화살표 21"/>
          <p:cNvSpPr/>
          <p:nvPr/>
        </p:nvSpPr>
        <p:spPr>
          <a:xfrm>
            <a:off x="5848443" y="5925987"/>
            <a:ext cx="1044209" cy="341401"/>
          </a:xfrm>
          <a:prstGeom prst="rightArrow">
            <a:avLst/>
          </a:prstGeom>
          <a:solidFill>
            <a:srgbClr val="0B6E69"/>
          </a:solidFill>
          <a:ln>
            <a:solidFill>
              <a:srgbClr val="0B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23" name="오른쪽 화살표 22"/>
          <p:cNvSpPr/>
          <p:nvPr/>
        </p:nvSpPr>
        <p:spPr>
          <a:xfrm>
            <a:off x="5843025" y="7218162"/>
            <a:ext cx="1044209" cy="341401"/>
          </a:xfrm>
          <a:prstGeom prst="rightArrow">
            <a:avLst/>
          </a:prstGeom>
          <a:solidFill>
            <a:srgbClr val="0B6E69"/>
          </a:solidFill>
          <a:ln>
            <a:solidFill>
              <a:srgbClr val="0B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076120" y="2159355"/>
            <a:ext cx="16145080" cy="6145220"/>
          </a:xfrm>
          <a:prstGeom prst="roundRect">
            <a:avLst/>
          </a:prstGeom>
          <a:noFill/>
          <a:ln>
            <a:solidFill>
              <a:srgbClr val="0B6E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32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47750"/>
            <a:ext cx="46863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03. </a:t>
            </a:r>
            <a:r>
              <a:rPr lang="en-US" sz="5072" b="1" spc="-446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업무</a:t>
            </a: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5072" b="1" spc="-446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분장</a:t>
            </a: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329151"/>
              </p:ext>
            </p:extLst>
          </p:nvPr>
        </p:nvGraphicFramePr>
        <p:xfrm>
          <a:off x="1552949" y="2400300"/>
          <a:ext cx="15182102" cy="6410599"/>
        </p:xfrm>
        <a:graphic>
          <a:graphicData uri="http://schemas.openxmlformats.org/drawingml/2006/table">
            <a:tbl>
              <a:tblPr/>
              <a:tblGrid>
                <a:gridCol w="2328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3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99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 Bold"/>
                          <a:sym typeface="Glacial Indifference Bold"/>
                        </a:rPr>
                        <a:t>구분</a:t>
                      </a:r>
                      <a:endParaRPr lang="en-US" sz="24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 Bold"/>
                          <a:sym typeface="Glacial Indifference Bold"/>
                        </a:rPr>
                        <a:t>항목</a:t>
                      </a:r>
                      <a:endParaRPr lang="en-US" sz="24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기획</a:t>
                      </a:r>
                      <a:endParaRPr lang="en-US" altLang="ko-KR" sz="2400" dirty="0">
                        <a:solidFill>
                          <a:srgbClr val="000000"/>
                        </a:solidFill>
                        <a:latin typeface="Nanum Square" panose="020B0600000101010101" charset="-127"/>
                        <a:ea typeface="Nanum Square" panose="020B0600000101010101" charset="-127"/>
                        <a:sym typeface="Glacial Indifference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아이디어 구상</a:t>
                      </a:r>
                      <a:r>
                        <a:rPr lang="en-US" altLang="ko-KR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, </a:t>
                      </a:r>
                      <a:r>
                        <a:rPr lang="ko-KR" alt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기획안</a:t>
                      </a: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 작성</a:t>
                      </a:r>
                      <a:endParaRPr lang="en-US" sz="24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9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데이터</a:t>
                      </a:r>
                      <a:r>
                        <a:rPr lang="en-US" altLang="ko-KR" sz="2400" kern="12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 </a:t>
                      </a:r>
                      <a:r>
                        <a:rPr lang="en-US" altLang="ko-KR" sz="2400" kern="12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수집</a:t>
                      </a:r>
                      <a:endParaRPr lang="en-US" altLang="ko-KR" sz="2400" kern="1200" dirty="0">
                        <a:solidFill>
                          <a:srgbClr val="000000"/>
                        </a:solidFill>
                        <a:latin typeface="Nanum Square" panose="020B0600000101010101" charset="-127"/>
                        <a:ea typeface="Nanum Square" panose="020B0600000101010101" charset="-127"/>
                        <a:cs typeface="Glacial Indifference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400" kern="12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</a:rPr>
                        <a:t>부동산 데이터</a:t>
                      </a:r>
                    </a:p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전월세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가격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변동에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관련있는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변수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데이터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수집</a:t>
                      </a:r>
                      <a:endParaRPr lang="en-US" sz="24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063173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데이터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처리</a:t>
                      </a:r>
                      <a:endParaRPr lang="en-US" sz="24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전처리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 및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결측치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처리</a:t>
                      </a:r>
                      <a:endParaRPr lang="en-US" sz="2400" dirty="0">
                        <a:solidFill>
                          <a:srgbClr val="000000"/>
                        </a:solidFill>
                        <a:latin typeface="Nanum Square" panose="020B0600000101010101" charset="-127"/>
                        <a:ea typeface="Nanum Square" panose="020B0600000101010101" charset="-127"/>
                        <a:cs typeface="Glacial Indifference"/>
                        <a:sym typeface="Glacial Indifference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학습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 및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예측</a:t>
                      </a:r>
                      <a:endParaRPr lang="en-US" sz="24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주택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가격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예측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모델 개발 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예측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결과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기반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정부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지원제도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추천</a:t>
                      </a:r>
                      <a:endParaRPr lang="en-US" sz="24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시각화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/UI</a:t>
                      </a:r>
                      <a:endParaRPr lang="en-US" sz="24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카카오 맵 구현</a:t>
                      </a:r>
                    </a:p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지도기반 시각화 </a:t>
                      </a:r>
                      <a:r>
                        <a:rPr lang="en-US" altLang="ko-KR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, </a:t>
                      </a: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Glacial Indifference"/>
                        </a:rPr>
                        <a:t>사용자 인터페이스 개발</a:t>
                      </a:r>
                      <a:endParaRPr lang="en-US" sz="24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4724400" y="1207889"/>
            <a:ext cx="9273426" cy="39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청년들은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어디서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,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어떻게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집을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구해야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2807" b="1" spc="-2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하나</a:t>
            </a:r>
            <a:r>
              <a:rPr lang="en-US" sz="2807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3C6DF-79F3-C851-F905-2018C7072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C5F2FB8-15B5-33B5-8CAD-F9F0C7F47337}"/>
              </a:ext>
            </a:extLst>
          </p:cNvPr>
          <p:cNvSpPr txBox="1"/>
          <p:nvPr/>
        </p:nvSpPr>
        <p:spPr>
          <a:xfrm>
            <a:off x="1028700" y="1047750"/>
            <a:ext cx="4229100" cy="718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03_1. </a:t>
            </a:r>
            <a:r>
              <a:rPr lang="en-US" sz="5072" b="1" spc="-446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업무</a:t>
            </a: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5072" b="1" spc="-446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분장</a:t>
            </a: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DEB2CE33-DBBF-0B82-3892-9194F34B7E04}"/>
              </a:ext>
            </a:extLst>
          </p:cNvPr>
          <p:cNvSpPr txBox="1"/>
          <p:nvPr/>
        </p:nvSpPr>
        <p:spPr>
          <a:xfrm>
            <a:off x="5334000" y="1197863"/>
            <a:ext cx="8305800" cy="809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16"/>
              </a:lnSpc>
            </a:pPr>
            <a:r>
              <a:rPr lang="ko-KR" altLang="en-US" sz="3200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부동산 데이터</a:t>
            </a:r>
            <a:endParaRPr lang="en-US" altLang="ko-KR" sz="3200" b="1" spc="-202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  <a:p>
            <a:pPr algn="l">
              <a:lnSpc>
                <a:spcPts val="3116"/>
              </a:lnSpc>
            </a:pPr>
            <a:endParaRPr lang="en-US" sz="3200" b="1" spc="-202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783B9B-D961-2288-20BE-FE436CF07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61820"/>
              </p:ext>
            </p:extLst>
          </p:nvPr>
        </p:nvGraphicFramePr>
        <p:xfrm>
          <a:off x="1600200" y="2247900"/>
          <a:ext cx="14706599" cy="6328800"/>
        </p:xfrm>
        <a:graphic>
          <a:graphicData uri="http://schemas.openxmlformats.org/drawingml/2006/table">
            <a:tbl>
              <a:tblPr/>
              <a:tblGrid>
                <a:gridCol w="3337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4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4498">
                  <a:extLst>
                    <a:ext uri="{9D8B030D-6E8A-4147-A177-3AD203B41FA5}">
                      <a16:colId xmlns:a16="http://schemas.microsoft.com/office/drawing/2014/main" val="2140187777"/>
                    </a:ext>
                  </a:extLst>
                </a:gridCol>
              </a:tblGrid>
              <a:tr h="568800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2080" b="1" dirty="0" err="1">
                          <a:solidFill>
                            <a:srgbClr val="FFFFFF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 Bold"/>
                          <a:sym typeface="Glacial Indifference Bold"/>
                        </a:rPr>
                        <a:t>항목</a:t>
                      </a:r>
                      <a:endParaRPr lang="en-US" sz="208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2080" b="1" dirty="0" err="1">
                          <a:solidFill>
                            <a:srgbClr val="FFFFFF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 Bold"/>
                          <a:sym typeface="Glacial Indifference Bold"/>
                        </a:rPr>
                        <a:t>데이터</a:t>
                      </a:r>
                      <a:r>
                        <a:rPr lang="en-US" sz="2080" b="1" dirty="0">
                          <a:solidFill>
                            <a:srgbClr val="FFFFFF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 Bold"/>
                          <a:sym typeface="Glacial Indifference Bold"/>
                        </a:rPr>
                        <a:t> </a:t>
                      </a:r>
                      <a:r>
                        <a:rPr lang="en-US" sz="2080" b="1" dirty="0" err="1">
                          <a:solidFill>
                            <a:srgbClr val="FFFFFF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 Bold"/>
                          <a:sym typeface="Glacial Indifference Bold"/>
                        </a:rPr>
                        <a:t>내용</a:t>
                      </a:r>
                      <a:endParaRPr lang="en-US" sz="208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208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 rowSpan="3"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altLang="ko-KR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실거래가</a:t>
                      </a:r>
                      <a:endParaRPr lang="en-US" altLang="ko-KR" sz="24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400" kern="12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</a:rPr>
                        <a:t>부동산 </a:t>
                      </a:r>
                      <a:r>
                        <a:rPr lang="ko-KR" altLang="en-US" sz="2400" kern="1200" dirty="0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</a:rPr>
                        <a:t>데이터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400" dirty="0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연립</a:t>
                      </a:r>
                      <a:r>
                        <a:rPr lang="en-US" altLang="ko-KR" sz="2400" dirty="0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,</a:t>
                      </a:r>
                      <a:r>
                        <a:rPr lang="ko-KR" altLang="en-US" sz="2400" dirty="0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 다세대</a:t>
                      </a:r>
                      <a:endParaRPr lang="en-US" sz="2000" dirty="0" smtClean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000" dirty="0" smtClean="0">
                          <a:latin typeface="Nanum Square" panose="020B0600000101010101" charset="-127"/>
                          <a:ea typeface="Nanum Square" panose="020B0600000101010101" charset="-127"/>
                        </a:rPr>
                        <a:t>이가영</a:t>
                      </a:r>
                      <a:endParaRPr lang="en-US" altLang="ko-KR" sz="2000" dirty="0" smtClean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400" dirty="0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단독</a:t>
                      </a:r>
                      <a:r>
                        <a:rPr lang="en-US" altLang="ko-KR" sz="2400" dirty="0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2400" dirty="0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다가구</a:t>
                      </a:r>
                      <a:endParaRPr lang="en-US" sz="2000" dirty="0" smtClean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000" dirty="0" err="1" smtClean="0">
                          <a:latin typeface="Nanum Square" panose="020B0600000101010101" charset="-127"/>
                          <a:ea typeface="Nanum Square" panose="020B0600000101010101" charset="-127"/>
                        </a:rPr>
                        <a:t>최예지</a:t>
                      </a:r>
                      <a:endParaRPr lang="en-US" sz="2000" dirty="0" smtClean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400" dirty="0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오피스텔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000" dirty="0" err="1" smtClean="0">
                          <a:latin typeface="Nanum Square" panose="020B0600000101010101" charset="-127"/>
                          <a:ea typeface="Nanum Square" panose="020B0600000101010101" charset="-127"/>
                        </a:rPr>
                        <a:t>길용준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정부정책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청년</a:t>
                      </a:r>
                      <a:r>
                        <a:rPr lang="en-US" altLang="ko-KR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 </a:t>
                      </a:r>
                      <a:r>
                        <a:rPr lang="en-US" altLang="ko-KR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전세대출,월세지원</a:t>
                      </a:r>
                      <a:r>
                        <a:rPr lang="en-US" altLang="ko-KR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 </a:t>
                      </a:r>
                      <a:r>
                        <a:rPr lang="ko-KR" altLang="en-US" sz="2400" dirty="0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"/>
                          <a:sym typeface="Glacial Indifference"/>
                        </a:rPr>
                        <a:t>제도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000" dirty="0" err="1" smtClean="0">
                          <a:latin typeface="Nanum Square" panose="020B0600000101010101" charset="-127"/>
                          <a:ea typeface="Nanum Square" panose="020B0600000101010101" charset="-127"/>
                        </a:rPr>
                        <a:t>유진석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61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10D5-C69D-F9FA-A80C-A2FBB4058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98E74B2-4EE0-54CB-98FB-3C5160FEDDF9}"/>
              </a:ext>
            </a:extLst>
          </p:cNvPr>
          <p:cNvSpPr txBox="1"/>
          <p:nvPr/>
        </p:nvSpPr>
        <p:spPr>
          <a:xfrm>
            <a:off x="1028700" y="1047750"/>
            <a:ext cx="4229100" cy="718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03_2. </a:t>
            </a:r>
            <a:r>
              <a:rPr lang="en-US" sz="5072" b="1" spc="-446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업무</a:t>
            </a: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  <a:r>
              <a:rPr lang="en-US" sz="5072" b="1" spc="-446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분장</a:t>
            </a:r>
            <a:r>
              <a:rPr lang="en-US" sz="5072" b="1" spc="-446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 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3CDA60CF-6B91-BD90-0D04-FEA79DD1E470}"/>
              </a:ext>
            </a:extLst>
          </p:cNvPr>
          <p:cNvSpPr txBox="1"/>
          <p:nvPr/>
        </p:nvSpPr>
        <p:spPr>
          <a:xfrm>
            <a:off x="5294971" y="1201221"/>
            <a:ext cx="9273426" cy="41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6"/>
              </a:lnSpc>
            </a:pPr>
            <a:r>
              <a:rPr lang="ko-KR" altLang="en-US" sz="3200" b="1" spc="-202" dirty="0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변수 데이터</a:t>
            </a:r>
            <a:endParaRPr lang="en-US" sz="3200" b="1" spc="-202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C0DAD8-94AB-9382-73AE-25F3F3126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742497"/>
              </p:ext>
            </p:extLst>
          </p:nvPr>
        </p:nvGraphicFramePr>
        <p:xfrm>
          <a:off x="1600200" y="2247900"/>
          <a:ext cx="14706599" cy="6328800"/>
        </p:xfrm>
        <a:graphic>
          <a:graphicData uri="http://schemas.openxmlformats.org/drawingml/2006/table">
            <a:tbl>
              <a:tblPr/>
              <a:tblGrid>
                <a:gridCol w="3337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8799">
                  <a:extLst>
                    <a:ext uri="{9D8B030D-6E8A-4147-A177-3AD203B41FA5}">
                      <a16:colId xmlns:a16="http://schemas.microsoft.com/office/drawing/2014/main" val="3595790533"/>
                    </a:ext>
                  </a:extLst>
                </a:gridCol>
              </a:tblGrid>
              <a:tr h="568800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2080" b="1" dirty="0" err="1">
                          <a:solidFill>
                            <a:srgbClr val="FFFFFF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 Bold"/>
                          <a:sym typeface="Glacial Indifference Bold"/>
                        </a:rPr>
                        <a:t>항목</a:t>
                      </a:r>
                      <a:endParaRPr lang="en-US" sz="208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2080" b="1" dirty="0" err="1">
                          <a:solidFill>
                            <a:srgbClr val="FFFFFF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 Bold"/>
                          <a:sym typeface="Glacial Indifference Bold"/>
                        </a:rPr>
                        <a:t>데이터</a:t>
                      </a:r>
                      <a:r>
                        <a:rPr lang="en-US" sz="2080" b="1" dirty="0">
                          <a:solidFill>
                            <a:srgbClr val="FFFFFF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 Bold"/>
                          <a:sym typeface="Glacial Indifference Bold"/>
                        </a:rPr>
                        <a:t> </a:t>
                      </a:r>
                      <a:r>
                        <a:rPr lang="en-US" sz="2080" b="1" dirty="0" err="1">
                          <a:solidFill>
                            <a:srgbClr val="FFFFFF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Glacial Indifference Bold"/>
                          <a:sym typeface="Glacial Indifference Bold"/>
                        </a:rPr>
                        <a:t>내용</a:t>
                      </a:r>
                      <a:endParaRPr lang="en-US" sz="208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208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주변교통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버스정거장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지하철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000" dirty="0" err="1" smtClean="0">
                          <a:latin typeface="Nanum Square" panose="020B0600000101010101" charset="-127"/>
                          <a:ea typeface="Nanum Square" panose="020B0600000101010101" charset="-127"/>
                        </a:rPr>
                        <a:t>길용준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인프라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병원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Noto Sans Kr"/>
                        </a:rPr>
                        <a:t>학교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+mn-cs"/>
                          <a:sym typeface="Noto Sans Kr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마트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공원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000" dirty="0" err="1" smtClean="0">
                          <a:latin typeface="Nanum Square" panose="020B0600000101010101" charset="-127"/>
                          <a:ea typeface="Nanum Square" panose="020B0600000101010101" charset="-127"/>
                        </a:rPr>
                        <a:t>길용준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인구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 및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사회요인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 err="1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실업률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Noto Sans Kr"/>
                        </a:rPr>
                        <a:t>주요상권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Noto Sans Kr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Noto Sans Kr"/>
                        </a:rPr>
                        <a:t>매출변화율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+mn-cs"/>
                          <a:sym typeface="Noto Sans Kr"/>
                        </a:rPr>
                        <a:t>,     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+mn-cs"/>
                          <a:sym typeface="Noto Sans Kr"/>
                        </a:rPr>
                        <a:t>                                                                                  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인구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증가율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Noto Sans Kr"/>
                        </a:rPr>
                        <a:t>전입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Noto Sans Kr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Noto Sans Kr"/>
                        </a:rPr>
                        <a:t>전출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Noto Sans Kr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sym typeface="Noto Sans Kr"/>
                        </a:rPr>
                        <a:t>비율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+mn-cs"/>
                          <a:sym typeface="Noto Sans Kr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출산율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000" dirty="0" smtClean="0">
                          <a:latin typeface="Nanum Square" panose="020B0600000101010101" charset="-127"/>
                          <a:ea typeface="Nanum Square" panose="020B0600000101010101" charset="-127"/>
                        </a:rPr>
                        <a:t>이가영</a:t>
                      </a:r>
                      <a:r>
                        <a:rPr lang="en-US" altLang="ko-KR" sz="2000" dirty="0" smtClean="0">
                          <a:latin typeface="Nanum Square" panose="020B0600000101010101" charset="-127"/>
                          <a:ea typeface="Nanum Square" panose="020B0600000101010101" charset="-127"/>
                        </a:rPr>
                        <a:t>,</a:t>
                      </a:r>
                      <a:r>
                        <a:rPr lang="ko-KR" altLang="en-US" sz="2000" dirty="0" err="1" smtClean="0">
                          <a:latin typeface="Nanum Square" panose="020B0600000101010101" charset="-127"/>
                          <a:ea typeface="Nanum Square" panose="020B0600000101010101" charset="-127"/>
                        </a:rPr>
                        <a:t>유진석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Noto Sans Kr"/>
                          <a:sym typeface="Noto Sans Kr"/>
                        </a:rPr>
                        <a:t>금융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물가</a:t>
                      </a:r>
                      <a:r>
                        <a:rPr lang="ko-KR" alt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지수 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Nanum Square" panose="020B0600000101010101" charset="-127"/>
                          <a:ea typeface="Nanum Square" panose="020B0600000101010101" charset="-127"/>
                          <a:cs typeface="Arimo"/>
                          <a:sym typeface="Arimo"/>
                        </a:rPr>
                        <a:t>금리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2000" dirty="0" err="1" smtClean="0">
                          <a:latin typeface="Nanum Square" panose="020B0600000101010101" charset="-127"/>
                          <a:ea typeface="Nanum Square" panose="020B0600000101010101" charset="-127"/>
                        </a:rPr>
                        <a:t>최예지</a:t>
                      </a:r>
                      <a:endParaRPr lang="en-US" sz="2000" dirty="0">
                        <a:latin typeface="Nanum Square" panose="020B0600000101010101" charset="-127"/>
                        <a:ea typeface="Nanum Square" panose="020B0600000101010101" charset="-127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36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7766245" y="4796925"/>
            <a:ext cx="2770341" cy="0"/>
          </a:xfrm>
          <a:prstGeom prst="line">
            <a:avLst/>
          </a:prstGeom>
          <a:ln w="9525" cap="flat">
            <a:solidFill>
              <a:srgbClr val="0B6E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3" name="AutoShape 3"/>
          <p:cNvSpPr/>
          <p:nvPr/>
        </p:nvSpPr>
        <p:spPr>
          <a:xfrm flipH="1">
            <a:off x="7766245" y="5522755"/>
            <a:ext cx="2770341" cy="0"/>
          </a:xfrm>
          <a:prstGeom prst="line">
            <a:avLst/>
          </a:prstGeom>
          <a:ln w="9525" cap="flat">
            <a:solidFill>
              <a:srgbClr val="0B6E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61608" y="2302702"/>
            <a:ext cx="5564784" cy="1397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69"/>
              </a:lnSpc>
              <a:spcBef>
                <a:spcPct val="0"/>
              </a:spcBef>
            </a:pPr>
            <a:r>
              <a:rPr lang="en-US" sz="6431" b="1" spc="-302" dirty="0" err="1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감사합니다</a:t>
            </a:r>
            <a:endParaRPr lang="en-US" sz="6431" b="1" spc="-302" dirty="0">
              <a:solidFill>
                <a:srgbClr val="0B6E6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Nanum Square Ultra-Bold"/>
              <a:sym typeface="Nanum Square Ultra-Bold"/>
            </a:endParaRPr>
          </a:p>
        </p:txBody>
      </p:sp>
      <p:sp>
        <p:nvSpPr>
          <p:cNvPr id="5" name="AutoShape 5"/>
          <p:cNvSpPr/>
          <p:nvPr/>
        </p:nvSpPr>
        <p:spPr>
          <a:xfrm flipH="1">
            <a:off x="7766245" y="6248585"/>
            <a:ext cx="2770341" cy="0"/>
          </a:xfrm>
          <a:prstGeom prst="line">
            <a:avLst/>
          </a:prstGeom>
          <a:ln w="9525" cap="flat">
            <a:solidFill>
              <a:srgbClr val="0B6E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6" name="AutoShape 6"/>
          <p:cNvSpPr/>
          <p:nvPr/>
        </p:nvSpPr>
        <p:spPr>
          <a:xfrm flipH="1">
            <a:off x="7766245" y="6974415"/>
            <a:ext cx="2770341" cy="0"/>
          </a:xfrm>
          <a:prstGeom prst="line">
            <a:avLst/>
          </a:prstGeom>
          <a:ln w="9525" cap="flat">
            <a:solidFill>
              <a:srgbClr val="0B6E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751415" y="4207524"/>
            <a:ext cx="277034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5"/>
              </a:lnSpc>
              <a:spcBef>
                <a:spcPct val="0"/>
              </a:spcBef>
            </a:pPr>
            <a:r>
              <a:rPr lang="en-US" sz="2062" b="1" spc="-177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길용준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51415" y="4900161"/>
            <a:ext cx="277034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5"/>
              </a:lnSpc>
              <a:spcBef>
                <a:spcPct val="0"/>
              </a:spcBef>
            </a:pPr>
            <a:r>
              <a:rPr lang="en-US" sz="2062" b="1" spc="-177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이가영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51415" y="5657789"/>
            <a:ext cx="277034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5"/>
              </a:lnSpc>
              <a:spcBef>
                <a:spcPct val="0"/>
              </a:spcBef>
            </a:pPr>
            <a:r>
              <a:rPr lang="en-US" sz="2062" b="1" spc="-177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유진석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66245" y="6386698"/>
            <a:ext cx="277034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5"/>
              </a:lnSpc>
              <a:spcBef>
                <a:spcPct val="0"/>
              </a:spcBef>
            </a:pPr>
            <a:r>
              <a:rPr lang="en-US" sz="2062" b="1" spc="-177">
                <a:solidFill>
                  <a:srgbClr val="0B6E6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Nanum Square Ultra-Bold"/>
                <a:sym typeface="Nanum Square Ultra-Bold"/>
              </a:rPr>
              <a:t>최예지</a:t>
            </a:r>
          </a:p>
        </p:txBody>
      </p:sp>
      <p:sp>
        <p:nvSpPr>
          <p:cNvPr id="11" name="Freeform 11"/>
          <p:cNvSpPr/>
          <p:nvPr/>
        </p:nvSpPr>
        <p:spPr>
          <a:xfrm flipH="1">
            <a:off x="13116758" y="6357963"/>
            <a:ext cx="4649965" cy="4041242"/>
          </a:xfrm>
          <a:custGeom>
            <a:avLst/>
            <a:gdLst/>
            <a:ahLst/>
            <a:cxnLst/>
            <a:rect l="l" t="t" r="r" b="b"/>
            <a:pathLst>
              <a:path w="4649965" h="4041242">
                <a:moveTo>
                  <a:pt x="4649965" y="0"/>
                </a:moveTo>
                <a:lnTo>
                  <a:pt x="0" y="0"/>
                </a:lnTo>
                <a:lnTo>
                  <a:pt x="0" y="4041242"/>
                </a:lnTo>
                <a:lnTo>
                  <a:pt x="4649965" y="4041242"/>
                </a:lnTo>
                <a:lnTo>
                  <a:pt x="4649965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1116</Words>
  <Application>Microsoft Office PowerPoint</Application>
  <PresentationFormat>사용자 지정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4" baseType="lpstr">
      <vt:lpstr>Arimo</vt:lpstr>
      <vt:lpstr>Glacial Indifference</vt:lpstr>
      <vt:lpstr>Glacial Indifference Bold</vt:lpstr>
      <vt:lpstr>Helios Extended Bold</vt:lpstr>
      <vt:lpstr>HY중고딕</vt:lpstr>
      <vt:lpstr>Nanum Square</vt:lpstr>
      <vt:lpstr>Nanum Square Bold</vt:lpstr>
      <vt:lpstr>Nanum Square Ultra-Bold</vt:lpstr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청년주거시설 가격예측 프로젝트</dc:title>
  <dc:creator>cuiru</dc:creator>
  <cp:lastModifiedBy>cuiru</cp:lastModifiedBy>
  <cp:revision>33</cp:revision>
  <dcterms:created xsi:type="dcterms:W3CDTF">2006-08-16T00:00:00Z</dcterms:created>
  <dcterms:modified xsi:type="dcterms:W3CDTF">2025-10-31T05:46:07Z</dcterms:modified>
  <dc:identifier>DAG2qpLjCL4</dc:identifier>
</cp:coreProperties>
</file>